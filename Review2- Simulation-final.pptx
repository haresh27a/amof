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61" r:id="rId5"/>
    <p:sldId id="262" r:id="rId6"/>
    <p:sldId id="267" r:id="rId7"/>
    <p:sldId id="268" r:id="rId8"/>
    <p:sldId id="269" r:id="rId9"/>
    <p:sldId id="287" r:id="rId10"/>
    <p:sldId id="271" r:id="rId11"/>
    <p:sldId id="275" r:id="rId12"/>
    <p:sldId id="276" r:id="rId13"/>
    <p:sldId id="289" r:id="rId14"/>
    <p:sldId id="290" r:id="rId15"/>
    <p:sldId id="291" r:id="rId16"/>
    <p:sldId id="292" r:id="rId17"/>
    <p:sldId id="288" r:id="rId18"/>
    <p:sldId id="277" r:id="rId19"/>
    <p:sldId id="28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b="1" dirty="0">
              <a:solidFill>
                <a:srgbClr val="0070C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169" y="223390"/>
            <a:ext cx="7178041" cy="1747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7621" y="1951625"/>
            <a:ext cx="746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highlight>
                  <a:srgbClr val="FFFF00"/>
                </a:highlight>
                <a:latin typeface="Sitka Heading" pitchFamily="2" charset="0"/>
                <a:cs typeface="Times New Roman" panose="02020603050405020304" pitchFamily="18" charset="0"/>
              </a:rPr>
              <a:t>DEPARTMENT OF ELECTRONICS AND COMMUNICATION ENGINEERING</a:t>
            </a:r>
            <a:endParaRPr lang="en-GB" sz="3000" b="1" dirty="0">
              <a:highlight>
                <a:srgbClr val="FFFF00"/>
              </a:highlight>
              <a:latin typeface="Sitka Heading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PRESENTED BY : </a:t>
            </a:r>
          </a:p>
          <a:p>
            <a:pPr marL="12700" marR="5080" algn="ctr">
              <a:lnSpc>
                <a:spcPct val="75000"/>
              </a:lnSpc>
              <a:spcBef>
                <a:spcPts val="1770"/>
              </a:spcBef>
            </a:pPr>
            <a:endParaRPr lang="en-GB" b="1" spc="-10" dirty="0">
              <a:solidFill>
                <a:srgbClr val="0070C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GB" spc="-1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9459" y="4756842"/>
            <a:ext cx="5183151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SUPERVISOR</a:t>
            </a:r>
            <a:r>
              <a:rPr lang="en-IN" sz="2000" b="1" u="sng" dirty="0">
                <a:solidFill>
                  <a:schemeClr val="accent1"/>
                </a:solidFill>
                <a:latin typeface="Times" panose="02020603050405020304" pitchFamily="18" charset="0"/>
              </a:rPr>
              <a:t> </a:t>
            </a: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:</a:t>
            </a:r>
          </a:p>
          <a:p>
            <a:pPr algn="ctr">
              <a:lnSpc>
                <a:spcPts val="3840"/>
              </a:lnSpc>
            </a:pPr>
            <a:r>
              <a:rPr lang="en-IN" sz="24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 </a:t>
            </a:r>
            <a:endParaRPr lang="en-GB" sz="2000" b="1" dirty="0">
              <a:latin typeface="Gill Sans MT" panose="020B0502020104020203" pitchFamily="34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8929" y="5319254"/>
            <a:ext cx="4931764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840"/>
              </a:lnSpc>
            </a:pPr>
            <a:r>
              <a:rPr lang="en-IN" altLang="en-US" sz="2400" b="1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Name :</a:t>
            </a:r>
          </a:p>
          <a:p>
            <a:pPr>
              <a:lnSpc>
                <a:spcPts val="3840"/>
              </a:lnSpc>
            </a:pPr>
            <a:r>
              <a:rPr lang="en-IN" sz="2400" b="1" spc="-5" dirty="0" err="1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Reg.No</a:t>
            </a:r>
            <a:r>
              <a:rPr lang="en-IN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(4211231040</a:t>
            </a:r>
            <a:r>
              <a:rPr lang="en-IN" altLang="en-US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87</a:t>
            </a:r>
            <a:r>
              <a:rPr lang="en-US" b="1" spc="-5" dirty="0">
                <a:latin typeface="Gill Sans MT" panose="020B0502020104020203" pitchFamily="34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GB" b="1" dirty="0">
              <a:latin typeface="Gill Sans MT" panose="020B0502020104020203" pitchFamily="34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95368" y="3105950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 :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23EC8701</a:t>
            </a:r>
            <a:endParaRPr lang="en-GB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7354" y="3608700"/>
            <a:ext cx="9931195" cy="47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endParaRPr lang="en-IN" sz="20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816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OUTLINE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877451"/>
            <a:ext cx="1069848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Recap of Review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Review 1 comments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Problem statement and objectives</a:t>
            </a:r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Literature survey and 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Proposed 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Design</a:t>
            </a: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of the proposed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Simulation Software and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Flow diagram/Algorithm</a:t>
            </a:r>
            <a:endParaRPr sz="2800" b="1" dirty="0">
              <a:solidFill>
                <a:srgbClr val="000000"/>
              </a:solidFill>
              <a:latin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Simulation</a:t>
            </a: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Software and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Results and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POs mapping and SDGs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Project Outcome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Conclusion</a:t>
            </a:r>
            <a:endParaRPr sz="28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Slide Title --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Recap and Review 1 Feedback Overview</a:t>
            </a:r>
          </a:p>
        </p:txBody>
      </p:sp>
      <!-- Slide Content -->
      <p:sp>
        <p:nvSpPr>
          <p:cNvPr id="3" name="TextBox 2"/>
          <p:cNvSpPr txBox="1"/>
          <p:nvPr/>
        </p:nvSpPr>
        <p:spPr>
          <a:xfrm>
            <a:off x="731520" y="1300000"/>
            <a:ext cx="1069848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!-- Section 1: Recap -->
          <a:p>
            <a:pPr marL="285750" indent="-285750">
              <a:spcBfr>
                <a:spcPts val="400"/>
              </a:spcBfr>
              <a:spcAft>
                <a:spcPts val="200"/>
              </a:spcAft>
              <a:buFont typeface="Arial"/>
              <a:buChar char="●"/>
            </a:pPr>
            <a:r>
              <a:rPr sz="2200" b="1">
                <a:solidFill>
                  <a:srgbClr val="1F4E79"/>
                </a:solidFill>
                <a:latin typeface="Times New Roman"/>
              </a:rPr>
              <a:t>Recap of Review 1 Deliverables:</a:t>
            </a:r>
          </a:p>
          <a:p>
            <a:pPr marL="571500" indent="-285750">
              <a:spcAft>
                <a:spcPts val="200"/>
              </a:spcAft>
              <a:buFont typeface="Arial"/>
              <a:buChar char="○"/>
            </a:pPr>
            <a:r>
              <a:rPr sz="1800" b="0">
                <a:solidFill>
                  <a:srgbClr val="333333"/>
                </a:solidFill>
                <a:latin typeface="Times New Roman"/>
              </a:rPr>
              <a:t>Formulated the AMORA architecture for multi-objective source routing across heterogeneous enterprise data.</a:t>
            </a:r>
          </a:p>
          <a:p>
            <a:pPr marL="571500" indent="-285750">
              <a:spcAft>
                <a:spcPts val="300"/>
              </a:spcAft>
              <a:buFont typeface="Arial"/>
              <a:buChar char="○"/>
            </a:pPr>
            <a:r>
              <a:rPr sz="1800" b="0">
                <a:solidFill>
                  <a:srgbClr val="333333"/>
                </a:solidFill>
                <a:latin typeface="Times New Roman"/>
              </a:rPr>
              <a:t>Demonstrated initial proof-of-concept pipeline with basic gating and a baseline operational efficiency of ~40%.</a:t>
            </a:r>
          </a:p>
          <!-- Section 2: Feedback Received -->
          <a:p>
            <a:pPr marL="285750" indent="-285750">
              <a:spcBfr>
                <a:spcPts val="400"/>
              </a:spcBfr>
              <a:spcAft>
                <a:spcPts val="200"/>
              </a:spcAft>
              <a:buFont typeface="Arial"/>
              <a:buChar char="●"/>
            </a:pPr>
            <a:r>
              <a:rPr sz="2200" b="1">
                <a:solidFill>
                  <a:srgbClr val="C00000"/>
                </a:solidFill>
                <a:latin typeface="Times New Roman"/>
              </a:rPr>
              <a:t>Panel Feedback &amp; Directives:</a:t>
            </a:r>
          </a:p>
          <a:p>
            <a:pPr marL="571500" indent="-285750">
              <a:spcAft>
                <a:spcPts val="200"/>
              </a:spcAft>
              <a:buFont typeface="Arial"/>
              <a:buChar char="○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Feedback 1 (Dataset Uniqueness): </a:t>
            </a:r>
            <a:r>
              <a:rPr sz="1800" b="0">
                <a:solidFill>
                  <a:srgbClr val="333333"/>
                </a:solidFill>
                <a:latin typeface="Times New Roman"/>
              </a:rPr>
              <a:t>Develop and deploy proprietary/own datasets to make the research unique rather than relying on generic benchmarks.</a:t>
            </a:r>
          </a:p>
          <a:p>
            <a:pPr marL="571500" indent="-285750">
              <a:spcAft>
                <a:spcPts val="300"/>
              </a:spcAft>
              <a:buFont typeface="Arial"/>
              <a:buChar char="○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Feedback 2 (Efficiency Optimization): </a:t>
            </a:r>
            <a:r>
              <a:rPr sz="1800" b="0">
                <a:solidFill>
                  <a:srgbClr val="333333"/>
                </a:solidFill>
                <a:latin typeface="Times New Roman"/>
              </a:rPr>
              <a:t>Enhance algorithmic routing mechanics to scale efficiency significantly higher than the previous 40% baseline.</a:t>
            </a:r>
          </a:p>
          <!-- Section 3: Actions & Results -->
          <a:p>
            <a:pPr marL="285750" indent="-285750">
              <a:spcBfr>
                <a:spcPts val="400"/>
              </a:spcBfr>
              <a:spcAft>
                <a:spcPts val="200"/>
              </a:spcAft>
              <a:buFont typeface="Arial"/>
              <a:buChar char="●"/>
            </a:pPr>
            <a:r>
              <a:rPr sz="2200" b="1">
                <a:solidFill>
                  <a:srgbClr val="375623"/>
                </a:solidFill>
                <a:latin typeface="Times New Roman"/>
              </a:rPr>
              <a:t>Review 2 Simulation Milestones Achieved:</a:t>
            </a:r>
          </a:p>
          <a:p>
            <a:pPr marL="571500" indent="-285750">
              <a:spcAft>
                <a:spcPts val="200"/>
              </a:spcAft>
              <a:buFont typeface="Arial"/>
              <a:buChar char="○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Curated 55 Specialized Enterprise Catalogs: </a:t>
            </a:r>
            <a:r>
              <a:rPr sz="1800" b="0">
                <a:solidFill>
                  <a:srgbClr val="333333"/>
                </a:solidFill>
                <a:latin typeface="Times New Roman"/>
              </a:rPr>
              <a:t>Multi-modal schema mappings spanning SQL, ERP/CRM REST endpoints, and PDF documents.</a:t>
            </a:r>
          </a:p>
          <a:p>
            <a:pPr marL="571500" indent="-285750">
              <a:spcAft>
                <a:spcPts val="200"/>
              </a:spcAft>
              <a:buFont typeface="Arial"/>
              <a:buChar char="○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Surpassed 57% System Efficiency: </a:t>
            </a:r>
            <a:r>
              <a:rPr sz="1800" b="0">
                <a:solidFill>
                  <a:srgbClr val="333333"/>
                </a:solidFill>
                <a:latin typeface="Times New Roman"/>
              </a:rPr>
              <a:t>Attained 35% retrieval bypass, 26.7% token reduction, and 99.4% candidate pruning with sub-4.2 ms latency.</a:t>
            </a:r>
          </a:p>
        </p:txBody>
      </p:sp>
      <!-- Slide Number -->
      <p:sp>
        <p:nvSpPr>
          <p:cNvPr id="4" name="SlideNumber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Slide Title --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Review 1 Comments and Actions Taken</a:t>
            </a:r>
          </a:p>
        </p:txBody>
      </p:sp>
      <!-- Table Frame --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880" y="1450000"/>
          <a:ext cx="1106424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5564240"/>
                <a:gridCol w="2000000"/>
              </a:tblGrid>
              <!-- Header Row -->
              <a:tr h="800000">
                <a:tc>
                  <a:txBody>
                    <a:bodyPr anchor="ctr"/>
                    <a:lstStyle/>
                    <a:p>
                      <a:pPr algn="ctr"/>
                      <a:r>
                        <a:rPr sz="2200" b="1">
                          <a:solidFill>
                            <a:schemeClr val="bg1"/>
                          </a:solidFill>
                          <a:latin typeface="Times New Roman"/>
                        </a:rPr>
                        <a:t>Panel Comment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200" b="1">
                          <a:solidFill>
                            <a:schemeClr val="bg1"/>
                          </a:solidFill>
                          <a:latin typeface="Times New Roman"/>
                        </a:rPr>
                        <a:t>Action Taken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200" b="1">
                          <a:solidFill>
                            <a:schemeClr val="bg1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/>
                </a:tc>
              </a:tr>
              <!-- Row 1: Dataset Uniqueness -->
              <a:tr h="1800000">
                <a:tc>
                  <a:txBody>
                    <a:bodyPr anchor="ctr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Use Own / Domain-Specific Datasets: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The panel advised utilizing proprietary/custom datasets to make the system unique rather than relying solely on generic standard public benchmarks.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Times New Roman"/>
                        </a:rPr>
                        <a:t>Developed 55 Heterogeneous Enterprise Catalogs: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• Built 55 multi-modal enterprise source catalogs across relational SQL ledgers (Sales, POS, Ecommerce), REST APIs (CRM, Pricing, HR), and PDF documents.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• Engineered custom domain schemas and multi-objective metadata profiles for end-to-end evaluation.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600" b="1">
                          <a:solidFill>
                            <a:srgbClr val="375623"/>
                          </a:solidFill>
                          <a:latin typeface="Times New Roman"/>
                        </a:rPr>
                        <a:t>Completed
(55 Catalogs Deployed)</a:t>
                      </a:r>
                    </a:p>
                  </a:txBody>
                  <a:tcPr/>
                </a:tc>
              </a:tr>
              <!-- Row 2: Efficiency Increase -->
              <a:tr h="1800000">
                <a:tc>
                  <a:txBody>
                    <a:bodyPr anchor="ctr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Increase System Efficiency (%):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The panel instructed to increase operational efficiency from the initial 40% baseline to a substantially higher, production-grade percentage.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Times New Roman"/>
                        </a:rPr>
                        <a:t>Surpassed 57% System Efficiency Metric: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• Integrated INKER Knowledge Retrieval Trigger (IE-KRT), bypassing 35.0% of unneeded retrievals.</a:t>
                      </a:r>
                    </a:p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• Evidence Fusion reduced prompt token bloat by 26.7% (786 vs 1,073 tokens).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Times New Roman"/>
                        </a:rPr>
                        <a:t>• Two-stage funnel achieved &gt;99.4% Source Reduction Ratio (SRR) with 3.26 ms routing latency.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600" b="1">
                          <a:solidFill>
                            <a:srgbClr val="375623"/>
                          </a:solidFill>
                          <a:latin typeface="Times New Roman"/>
                        </a:rPr>
                        <a:t>Completed
(&gt;57% Efficiency Achieved)</a:t>
                      </a:r>
                    </a:p>
                  </a:txBody>
                  <a:tcPr/>
                </a:tc>
              </a:tr>
            </a:tbl>
          </a:graphicData>
        </a:graphic>
      </p:graphicFrame>
      <!-- Slide Number -->
      <p:sp>
        <p:nvSpPr>
          <p:cNvPr id="4" name="SlideNumber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0992" y="320040"/>
            <a:ext cx="9095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Problem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Statement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4592" y="241679"/>
            <a:ext cx="5307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Literature</a:t>
            </a: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Survey</a:t>
            </a:r>
            <a:endParaRPr sz="3200" b="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22504"/>
              </p:ext>
            </p:extLst>
          </p:nvPr>
        </p:nvGraphicFramePr>
        <p:xfrm>
          <a:off x="548640" y="1554480"/>
          <a:ext cx="1106424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9DA03-E6F8-1DC5-17B3-3301ED7E830F}"/>
              </a:ext>
            </a:extLst>
          </p:cNvPr>
          <p:cNvSpPr txBox="1"/>
          <p:nvPr/>
        </p:nvSpPr>
        <p:spPr>
          <a:xfrm>
            <a:off x="548640" y="5893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/>
              </a:rPr>
              <a:t>(Recent Years -10 papers)</a:t>
            </a:r>
            <a:r>
              <a:rPr lang="en-IN" sz="1400" b="1" dirty="0">
                <a:solidFill>
                  <a:srgbClr val="FF0000"/>
                </a:solidFill>
                <a:latin typeface="Times New Roman"/>
              </a:rPr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5424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Research Gap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Proposed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Method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(Block Diagram)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81A95-0336-CB41-A76C-3010F50A9323}"/>
              </a:ext>
            </a:extLst>
          </p:cNvPr>
          <p:cNvSpPr txBox="1"/>
          <p:nvPr/>
        </p:nvSpPr>
        <p:spPr>
          <a:xfrm>
            <a:off x="1731264" y="40886"/>
            <a:ext cx="6851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Design of the proposed work  </a:t>
            </a:r>
          </a:p>
        </p:txBody>
      </p:sp>
    </p:spTree>
    <p:extLst>
      <p:ext uri="{BB962C8B-B14F-4D97-AF65-F5344CB8AC3E}">
        <p14:creationId xmlns:p14="http://schemas.microsoft.com/office/powerpoint/2010/main" val="34596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-33903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Flow Diagram/Algorithm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Simulation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Software and Parameters 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865" y="148590"/>
            <a:ext cx="554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Results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 and Discussion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60F37-8A16-3A3C-8BDB-AEF39FFA1693}"/>
              </a:ext>
            </a:extLst>
          </p:cNvPr>
          <p:cNvSpPr txBox="1"/>
          <p:nvPr/>
        </p:nvSpPr>
        <p:spPr>
          <a:xfrm>
            <a:off x="1438656" y="1720840"/>
            <a:ext cx="80345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Instruction : 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Increase the number of slides as per your project.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The simulation has to be explained and demonstrated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9184" y="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PO / PSO Mapping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694944"/>
          <a:ext cx="1106424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PO4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PO5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PO6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PO7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PO8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PO9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PO10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PSO3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328031"/>
              </p:ext>
            </p:extLst>
          </p:nvPr>
        </p:nvGraphicFramePr>
        <p:xfrm>
          <a:off x="158496" y="2051304"/>
          <a:ext cx="11728705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Applied fundamental electromagnetic theory and materials science knowledge to design an advanced antenna.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Analyzed RF signal behavior and antenna performance using simulation and theoretical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Designed and developed a novel slotted triangular patch antenna using graphene material for energy harvesting.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Investigated antenna characteristics like gain, bandwidth, and return loss through simulation and measurement.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Used modern engineering tools such as COMSOL for antenna modeling and optimization.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PO6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Understood the societal impact of energy harvesting in low-power wireless and IoT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E5833A5-3EC6-BEB4-9EF9-B24BE4708FE2}"/>
              </a:ext>
            </a:extLst>
          </p:cNvPr>
          <p:cNvSpPr txBox="1"/>
          <p:nvPr/>
        </p:nvSpPr>
        <p:spPr>
          <a:xfrm>
            <a:off x="158496" y="1534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2400" b="1" i="0" dirty="0">
                <a:solidFill>
                  <a:srgbClr val="000000"/>
                </a:solidFill>
                <a:latin typeface="Times New Roman"/>
              </a:rPr>
              <a:t>POs Learnt (PO1 – PO6)</a:t>
            </a:r>
            <a:endParaRPr lang="en-IN" sz="2400" b="1" i="0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POs Learnt (PO7 – PO12)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68769"/>
              </p:ext>
            </p:extLst>
          </p:nvPr>
        </p:nvGraphicFramePr>
        <p:xfrm>
          <a:off x="548640" y="128016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Promoted sustainable technology through RF energy harvesting to support green electronics.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Followed ethical guidelines in research, simulation, and documentation.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1 –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Collaborated effectively within a team to divide tasks in design, simulation, and testing phases.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Developed technical communication skills through report writing and presentations of the project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Gained awareness of basic budgeting and resource planning for experimental antenna fabrication.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1 –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Engaged in self-learning to understand graphene materials and their application in RF devices.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EF31C9-36CB-83F0-4C9B-241A0AAC8A11}"/>
              </a:ext>
            </a:extLst>
          </p:cNvPr>
          <p:cNvSpPr txBox="1"/>
          <p:nvPr/>
        </p:nvSpPr>
        <p:spPr>
          <a:xfrm>
            <a:off x="158496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IN" sz="1800" b="1" i="0" dirty="0">
                <a:solidFill>
                  <a:srgbClr val="FF0000"/>
                </a:solidFill>
                <a:latin typeface="Times New Roman"/>
              </a:rPr>
              <a:t>write as per your project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PSOs Learnt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012753"/>
              </p:ext>
            </p:extLst>
          </p:nvPr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Applied core knowledge of RF and communication engineering in the development of the antenna system.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Designed an innovative graphene-based antenna and implemented simulation techniques for performance analysis.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Gained hands-on experience with simulation tools and embedded coding for system-level integration, where applicable.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CA642D-6B20-9130-7B6B-4B32AD980CD1}"/>
              </a:ext>
            </a:extLst>
          </p:cNvPr>
          <p:cNvSpPr txBox="1"/>
          <p:nvPr/>
        </p:nvSpPr>
        <p:spPr>
          <a:xfrm>
            <a:off x="158496" y="6304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IN" sz="1800" b="1" i="0" dirty="0">
                <a:solidFill>
                  <a:srgbClr val="FF0000"/>
                </a:solidFill>
                <a:latin typeface="Times New Roman"/>
              </a:rPr>
              <a:t>write as per your project  for your department PSOs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16914"/>
            <a:ext cx="11064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Sustainable Development Goals (SDGs)</a:t>
            </a:r>
            <a:endParaRPr sz="3600" b="1" i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 dirty="0">
                <a:solidFill>
                  <a:srgbClr val="767676"/>
                </a:solidFill>
                <a:latin typeface="Times New Roman"/>
              </a:rPr>
              <a:t>This project aligns with the United Nations Sustainable Development Goals: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CC30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Affordable and Clean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Harvests ambient RF energy, contributing to clean, renewable and decentralized power sources for low-power electronics.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D6925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 dirty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Industry, Innovation and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Graphene and innovative antenna design enhance wireless communication infrastructure and promote research in sustainable electronics.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BF8B2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 dirty="0">
                <a:solidFill>
                  <a:srgbClr val="1F497D"/>
                </a:solidFill>
                <a:latin typeface="Times New Roman"/>
              </a:rPr>
              <a:t>Responsible Consumption and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Using RF energy from the environment supports energy efficiency and sustainable use of advanced materials in communication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3F7E4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Climate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Reduces dependency on batteries by enabling ambient energy reuse, minimizing environmental impact and carbon footprint.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3355E-5CD0-5982-0DD8-1102356EF02A}"/>
              </a:ext>
            </a:extLst>
          </p:cNvPr>
          <p:cNvSpPr txBox="1"/>
          <p:nvPr/>
        </p:nvSpPr>
        <p:spPr>
          <a:xfrm>
            <a:off x="548640" y="63564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/>
              </a:rPr>
              <a:t>Mention suitable  SDGs for your project 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30897-B810-6CF0-3222-A4A1A4A7E949}"/>
              </a:ext>
            </a:extLst>
          </p:cNvPr>
          <p:cNvSpPr txBox="1"/>
          <p:nvPr/>
        </p:nvSpPr>
        <p:spPr>
          <a:xfrm>
            <a:off x="1365504" y="1945505"/>
            <a:ext cx="86807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Patent status                            :</a:t>
            </a: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Scopus-indexed Conf Status :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     Name of the Conference 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3.  Scopus /SCI Journal  status  :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    Name of the Journal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4.  Manuscript Status                 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1C577-85C4-56DD-9544-D3C098AC3863}"/>
              </a:ext>
            </a:extLst>
          </p:cNvPr>
          <p:cNvSpPr txBox="1"/>
          <p:nvPr/>
        </p:nvSpPr>
        <p:spPr>
          <a:xfrm>
            <a:off x="243840" y="37007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/>
              </a:rPr>
              <a:t>Project outcome :</a:t>
            </a:r>
          </a:p>
        </p:txBody>
      </p:sp>
    </p:spTree>
    <p:extLst>
      <p:ext uri="{BB962C8B-B14F-4D97-AF65-F5344CB8AC3E}">
        <p14:creationId xmlns:p14="http://schemas.microsoft.com/office/powerpoint/2010/main" val="184312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Conclusion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78EEC-0DB4-5458-36A9-537800B52FF4}"/>
              </a:ext>
            </a:extLst>
          </p:cNvPr>
          <p:cNvSpPr txBox="1"/>
          <p:nvPr/>
        </p:nvSpPr>
        <p:spPr>
          <a:xfrm>
            <a:off x="1621536" y="1044666"/>
            <a:ext cx="813206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/>
              </a:rPr>
              <a:t> 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% of  project completion    :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List of completed work: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List of Pending Work        :</a:t>
            </a:r>
          </a:p>
          <a:p>
            <a:endParaRPr lang="en-IN" b="1" dirty="0">
              <a:solidFill>
                <a:srgbClr val="000000"/>
              </a:solidFill>
              <a:latin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726A0-AE82-3DC3-2F36-F0D9223B8FAE}"/>
              </a:ext>
            </a:extLst>
          </p:cNvPr>
          <p:cNvSpPr txBox="1"/>
          <p:nvPr/>
        </p:nvSpPr>
        <p:spPr>
          <a:xfrm>
            <a:off x="1463040" y="5354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Times New Roman"/>
              </a:rPr>
              <a:t>Use Chicago format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702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Microsoft JhengHei UI</vt:lpstr>
      <vt:lpstr>Arial</vt:lpstr>
      <vt:lpstr>Arial Black</vt:lpstr>
      <vt:lpstr>Arial Rounded MT Bold</vt:lpstr>
      <vt:lpstr>Calibri</vt:lpstr>
      <vt:lpstr>Gill Sans MT</vt:lpstr>
      <vt:lpstr>Sitka Heading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Elizabeth Caroline</dc:creator>
  <cp:keywords/>
  <dc:description>generated using python-pptx</dc:description>
  <cp:lastModifiedBy>Elizabeth Caroline</cp:lastModifiedBy>
  <cp:revision>18</cp:revision>
  <dcterms:created xsi:type="dcterms:W3CDTF">2013-01-27T09:14:16Z</dcterms:created>
  <dcterms:modified xsi:type="dcterms:W3CDTF">2026-10-13T07:28:37Z</dcterms:modified>
  <cp:category/>
</cp:coreProperties>
</file>
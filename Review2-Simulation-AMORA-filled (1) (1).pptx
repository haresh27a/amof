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5" r:id="rId8"/>
    <p:sldId id="277" r:id="rId9"/>
    <p:sldId id="278" r:id="rId10"/>
    <p:sldId id="279" r:id="rId11"/>
    <p:sldId id="260" r:id="rId12"/>
    <p:sldId id="261" r:id="rId13"/>
    <p:sldId id="280" r:id="rId14"/>
    <p:sldId id="281" r:id="rId15"/>
    <p:sldId id="282" r:id="rId16"/>
    <p:sldId id="264" r:id="rId17"/>
    <p:sldId id="265" r:id="rId18"/>
    <p:sldId id="266" r:id="rId19"/>
    <p:sldId id="267" r:id="rId20"/>
    <p:sldId id="286" r:id="rId21"/>
    <p:sldId id="268" r:id="rId22"/>
    <p:sldId id="269" r:id="rId23"/>
    <p:sldId id="270" r:id="rId24"/>
    <p:sldId id="271" r:id="rId25"/>
    <p:sldId id="272" r:id="rId26"/>
    <p:sldId id="273" r:id="rId27"/>
    <p:sldId id="285" r:id="rId28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 respected panel members. Today I am presenting Review-2: Simulation for my project AMORA—an Adaptive Multi-Objective Reasoning Algorithm designed to orchestrate tool selection, knowledge gating, and multi-source retrieval over heterogeneous enterprise systems using local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hyperlink" Target="https://doi.org/10.48550/2502.05957" TargetMode="External"/><Relationship Id="rId4" Type="http://schemas.openxmlformats.org/officeDocument/2006/relationships/hyperlink" Target="https://doi.org/10.3390/a19060447" TargetMode="External"/><Relationship Id="rId3" Type="http://schemas.openxmlformats.org/officeDocument/2006/relationships/hyperlink" Target="https://doi.org/10.48550/2604.20860" TargetMode="External"/><Relationship Id="rId2" Type="http://schemas.openxmlformats.org/officeDocument/2006/relationships/hyperlink" Target="https://doi.org/10.48550/2602.00296" TargetMode="External"/><Relationship Id="rId1" Type="http://schemas.openxmlformats.org/officeDocument/2006/relationships/hyperlink" Target="https://doi.org/10.1016/j.ipm.2025.10453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433052" y="2244213"/>
            <a:ext cx="9500420" cy="1104900"/>
          </a:xfrm>
          <a:prstGeom prst="rect">
            <a:avLst/>
          </a:prstGeom>
        </p:spPr>
        <p:txBody>
          <a:bodyPr vert="horz" lIns="91440" tIns="45720" rIns="91440" bIns="45720" anchor="b">
            <a:normAutofit fontScale="975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endParaRPr sz="2500" b="1">
              <a:solidFill>
                <a:srgbClr val="0070C0"/>
              </a:solidFill>
              <a:latin typeface="Times"/>
              <a:ea typeface="Times"/>
              <a:cs typeface="Times"/>
            </a:endParaRPr>
          </a:p>
        </p:txBody>
      </p:sp>
      <p:pic>
        <p:nvPicPr>
          <p:cNvPr id="17" name="object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3169" y="223390"/>
            <a:ext cx="7178041" cy="1747901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2337621" y="1951625"/>
            <a:ext cx="74676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000" b="1">
                <a:highlight>
                  <a:srgbClr val="FFFF00"/>
                </a:highlight>
                <a:latin typeface="Sitka Heading"/>
                <a:ea typeface="Sitka Heading"/>
                <a:cs typeface="Sitka Heading"/>
              </a:rPr>
              <a:t>DEPARTMENT OF </a:t>
            </a:r>
            <a:r>
              <a:rPr lang="en-US" sz="3000" b="1">
                <a:highlight>
                  <a:srgbClr val="FFFF00"/>
                </a:highlight>
                <a:latin typeface="Sitka Heading"/>
                <a:ea typeface="Sitka Heading"/>
                <a:cs typeface="Sitka Heading"/>
              </a:rPr>
              <a:t>COMPUTER SCIENCE</a:t>
            </a:r>
            <a:r>
              <a:rPr sz="3000" b="1">
                <a:highlight>
                  <a:srgbClr val="FFFF00"/>
                </a:highlight>
                <a:latin typeface="Sitka Heading"/>
                <a:ea typeface="Sitka Heading"/>
                <a:cs typeface="Sitka Heading"/>
              </a:rPr>
              <a:t> AND  ENGINEERING</a:t>
            </a:r>
            <a:endParaRPr sz="3000" b="1">
              <a:highlight>
                <a:srgbClr val="FFFF00"/>
              </a:highlight>
              <a:latin typeface="Sitka Heading"/>
              <a:ea typeface="Sitka Heading"/>
              <a:cs typeface="Sitka Heading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1420762" y="4869426"/>
            <a:ext cx="35052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2000" b="1" u="sng">
                <a:solidFill>
                  <a:srgbClr val="0070C0"/>
                </a:solidFill>
                <a:latin typeface="Times"/>
                <a:ea typeface="Times"/>
                <a:cs typeface="Times"/>
              </a:rPr>
              <a:t>PRESENTED BY : </a:t>
            </a:r>
            <a:endParaRPr sz="2000" b="1" u="sng">
              <a:solidFill>
                <a:srgbClr val="0070C0"/>
              </a:solidFill>
              <a:latin typeface="Times"/>
              <a:ea typeface="Times"/>
              <a:cs typeface="Times"/>
            </a:endParaRPr>
          </a:p>
          <a:p>
            <a:pPr marL="12700" marR="5080" algn="ctr">
              <a:lnSpc>
                <a:spcPct val="75000"/>
              </a:lnSpc>
              <a:spcBef>
                <a:spcPts val="1770"/>
              </a:spcBef>
              <a:buNone/>
            </a:pPr>
            <a:endParaRPr b="1" spc="-10">
              <a:solidFill>
                <a:srgbClr val="0070C0"/>
              </a:solidFill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5250305" y="4975202"/>
            <a:ext cx="4586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endParaRPr spc="-10"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479459" y="4756842"/>
            <a:ext cx="5183151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buNone/>
            </a:pPr>
            <a:r>
              <a:rPr sz="2000" b="1" u="sng">
                <a:solidFill>
                  <a:srgbClr val="0070C0"/>
                </a:solidFill>
                <a:latin typeface="Times"/>
                <a:ea typeface="Times"/>
                <a:cs typeface="Times"/>
              </a:rPr>
              <a:t>SUPERVISOR :</a:t>
            </a:r>
            <a:endParaRPr sz="2000" b="1" u="sng">
              <a:solidFill>
                <a:srgbClr val="0070C0"/>
              </a:solidFill>
              <a:latin typeface="Times"/>
              <a:ea typeface="Times"/>
              <a:cs typeface="Times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433154" y="5314174"/>
            <a:ext cx="4931764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840"/>
              </a:lnSpc>
              <a:buNone/>
            </a:pPr>
            <a:r>
              <a:rPr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Name: Haresh</a:t>
            </a:r>
            <a:r>
              <a:rPr lang="en-IN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</a:t>
            </a:r>
            <a:endParaRPr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ts val="3840"/>
              </a:lnSpc>
              <a:buNone/>
            </a:pPr>
            <a:r>
              <a:rPr sz="2400" b="1" spc="-5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Reg.No</a:t>
            </a:r>
            <a:r>
              <a:rPr lang="en-US" sz="2400" b="1" spc="-5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</a:t>
            </a:r>
            <a:r>
              <a:rPr sz="2400" b="1" spc="-5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42112310</a:t>
            </a:r>
            <a:r>
              <a:rPr lang="en-IN" sz="2400" b="1" spc="-5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2043</a:t>
            </a:r>
            <a:endParaRPr b="1" dirty="0">
              <a:latin typeface="Gill Sans MT" panose="020B0502020104020203"/>
              <a:ea typeface="Gill Sans MT" panose="020B0502020104020203"/>
              <a:cs typeface="Gill Sans MT" panose="020B0502020104020203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495368" y="3105950"/>
            <a:ext cx="4931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SUBJECT CODE : </a:t>
            </a:r>
            <a:r>
              <a:rPr sz="2000" b="1" dirty="0"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23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CS</a:t>
            </a:r>
            <a:r>
              <a:rPr sz="2000" b="1" dirty="0"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8701</a:t>
            </a:r>
            <a:endParaRPr sz="2000" b="1" dirty="0">
              <a:highlight>
                <a:srgbClr val="FFFF00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327354" y="3608700"/>
            <a:ext cx="9931195" cy="43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2000" b="1">
                <a:latin typeface="Times New Roman" panose="02020603050405020304" charset="0"/>
                <a:ea typeface="Arial Rounded MT Bold" panose="020F0704030504030204"/>
                <a:cs typeface="Times New Roman" panose="02020603050405020304" charset="0"/>
              </a:rPr>
              <a:t>SECOND REVIEW</a:t>
            </a:r>
            <a:endParaRPr lang="en-US" sz="2000" b="1">
              <a:latin typeface="Times New Roman" panose="02020603050405020304" charset="0"/>
              <a:ea typeface="Arial Rounded MT Bold" panose="020F0704030504030204"/>
              <a:cs typeface="Times New Roman" panose="02020603050405020304" charset="0"/>
            </a:endParaRPr>
          </a:p>
        </p:txBody>
      </p:sp>
      <p:sp>
        <p:nvSpPr>
          <p:cNvPr id="13" name="Added content"/>
          <p:cNvSpPr>
            <a:spLocks noGrp="1"/>
          </p:cNvSpPr>
          <p:nvPr/>
        </p:nvSpPr>
        <p:spPr>
          <a:xfrm>
            <a:off x="6479540" y="5471160"/>
            <a:ext cx="5181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lvl1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en-US" sz="24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Dr. T. Ananth Kumar</a:t>
            </a:r>
            <a:endParaRPr lang="en-US" altLang="en-US" sz="24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en-US" sz="24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Associate Professor, Dept. of CSE</a:t>
            </a:r>
            <a:endParaRPr lang="en-US" altLang="en-US" sz="24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Added content"/>
          <p:cNvSpPr>
            <a:spLocks noGrp="1"/>
          </p:cNvSpPr>
          <p:nvPr/>
        </p:nvSpPr>
        <p:spPr>
          <a:xfrm>
            <a:off x="1327309" y="4067175"/>
            <a:ext cx="9931241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lvl1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ctr">
              <a:buNone/>
              <a:defRPr sz="15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dirty="0">
                <a:sym typeface="+mn-ea"/>
              </a:rPr>
              <a:t>Adaptive </a:t>
            </a:r>
            <a:r>
              <a:rPr lang="en-US" sz="2400" dirty="0">
                <a:sym typeface="+mn-ea"/>
              </a:rPr>
              <a:t>Framework for external source selection and </a:t>
            </a:r>
            <a:r>
              <a:rPr sz="2400" dirty="0">
                <a:sym typeface="+mn-ea"/>
              </a:rPr>
              <a:t>Tool</a:t>
            </a:r>
            <a:r>
              <a:rPr lang="en-US" sz="2400" dirty="0">
                <a:sym typeface="+mn-ea"/>
              </a:rPr>
              <a:t>s-source</a:t>
            </a:r>
            <a:r>
              <a:rPr sz="2400" dirty="0">
                <a:sym typeface="+mn-ea"/>
              </a:rPr>
              <a:t> Coordination</a:t>
            </a:r>
            <a:r>
              <a:rPr lang="en-US" sz="2400" dirty="0">
                <a:sym typeface="+mn-ea"/>
              </a:rPr>
              <a:t> using LLM based agents</a:t>
            </a:r>
            <a:endParaRPr sz="240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432816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OUTLINE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731520" y="877451"/>
            <a:ext cx="10698480" cy="435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Recap of Review 1 and feedback actions taken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Problem statement and research objectives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Literature survey and research gap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Proposed methodology and system architecture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Mathematical design and optimization framework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Flow diagram and step-by-step algorithm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Simulation environment, software and parameters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Simulation results, baseline comparisons and discussion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 / PSO mapping and Sustainable Development Goals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 outcomes, work status and conclusion</a:t>
            </a:r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2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>
            <a:spLocks noGrp="1"/>
          </p:cNvSpPr>
          <p:nvPr/>
        </p:nvSpPr>
        <p:spPr>
          <a:xfrm>
            <a:off x="682625" y="4023360"/>
            <a:ext cx="10892155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82625" y="1325880"/>
            <a:ext cx="10892155" cy="25044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1975104" y="310896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2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Recap and Review 1 Feedback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731520" y="1463040"/>
            <a:ext cx="1069848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RECAP</a:t>
            </a:r>
            <a:endParaRPr lang="en-US" altLang="en-US" sz="1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lang="en-US" altLang="en-US" sz="1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just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 the Zeroth Review, we introduced the AMOF framework, identified the research gap in heterogeneous knowledge source selection and tool–source coordination, and defined the initial objectives and technologies. </a:t>
            </a:r>
            <a:endParaRPr lang="en-US" altLang="en-US" sz="1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just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 the First Review, we analysed 10 research papers and studied INKER as the base paper, which determines when to retrieve external knowledge using IE-KRT and what to retrieve using IE-KQF. We identified the need to extend this approach by selecting suitable sources based on relevance, reliability, freshness, and cost, while coordinating them with appropriate tools. Based on the reviewer’s feedback</a:t>
            </a:r>
            <a:endParaRPr lang="en-US" altLang="en-US" sz="1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just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just"/>
            <a:endParaRPr lang="en-US" b="1"/>
          </a:p>
          <a:p>
            <a:pPr algn="just"/>
            <a:r>
              <a:rPr lang="en-US" b="1"/>
              <a:t>FEEDBACK</a:t>
            </a:r>
            <a:endParaRPr lang="en-US" b="1"/>
          </a:p>
          <a:p>
            <a:pPr algn="just"/>
            <a:endParaRPr lang="en-US" b="1"/>
          </a:p>
          <a:p>
            <a:pPr algn="just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en-US"/>
              <a:t>Feedback 1 (Dataset Uniqueness): Transition from generic benchmark corpora to custom/in-house enterprise datasets to establish distinct novelty and domain realism.</a:t>
            </a:r>
            <a:endParaRPr lang="en-US" altLang="en-US"/>
          </a:p>
          <a:p>
            <a:pPr algn="just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en-US"/>
              <a:t>Feedback 2 (Efficiency Optimization): Refactor the routing algorithm and gating mechanics to elevate system efficiency significantly beyond the baseline 40%.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Review 1 Comments and Actions Taken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7" name="Table 2"/>
          <p:cNvGraphicFramePr/>
          <p:nvPr/>
        </p:nvGraphicFramePr>
        <p:xfrm>
          <a:off x="548640" y="1078992"/>
          <a:ext cx="11064240" cy="5271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5095875"/>
                <a:gridCol w="2280285"/>
              </a:tblGrid>
              <a:tr h="86741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Panel comment / suggestion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Action taken in Review 2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Status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 Use Own / Domain-Specific Datasets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The panel advised utilizing proprietary/custom datasets to make the system unique rather than relying solely on generic standard public benchmarks.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Developed 55 Heterogeneous Enterprise Catalogs: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• Curated and integrated 55 specialized multi-modal enterprise source catalogs spanning relational SQL ledgers (Sales POS, Ecommerce, Commission DBs), live REST APIs (CRM, Pricing Matrix, HR), and PDF policy manuals.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spcAft>
                          <a:spcPts val="600"/>
                        </a:spcAft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Completed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 Increase System Efficiency Percentage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The panel instructed to increase overall operational efficiency from the initial 40% baseline to a substantially higher, production-grade percentage.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Surpassed &gt;57% System Efficiency Metric: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• Integrated INKER Knowledge Retrieval Trigger (IE-KRT), eliminating external retrieval overhead on 35.0% of parametric queries.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• Evidence Fusion reduced prompt token context bloat by 26.7% (786 vs 1,073 tokens).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spcAft>
                          <a:spcPts val="600"/>
                        </a:spcAft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</a:pPr>
                      <a:r>
                        <a:rPr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Completed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>
            <a:spLocks noGrp="1"/>
          </p:cNvSpPr>
          <p:nvPr/>
        </p:nvSpPr>
        <p:spPr>
          <a:xfrm>
            <a:off x="11577320" y="6400800"/>
            <a:ext cx="3098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buNone/>
            </a:pPr>
            <a:endParaRPr sz="12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743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/>
              </a:rPr>
              <a:t>  </a:t>
            </a:r>
            <a:r>
              <a:rPr sz="4000" b="1" dirty="0">
                <a:latin typeface="Times New Roman" panose="02020603050405020304"/>
              </a:rPr>
              <a:t>Problem Statement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437007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>
                <a:latin typeface="Times New Roman" panose="02020603050405020304"/>
              </a:rPr>
              <a:t>Existing LLM systems often use static or predefined retrieval strategies.</a:t>
            </a:r>
            <a:endParaRPr sz="2400">
              <a:latin typeface="Times New Roman" panose="02020603050405020304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>
                <a:latin typeface="Times New Roman" panose="02020603050405020304"/>
              </a:rPr>
              <a:t>They may retrieve external information even when it is not necessary.</a:t>
            </a:r>
            <a:endParaRPr sz="2400">
              <a:latin typeface="Times New Roman" panose="02020603050405020304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>
                <a:latin typeface="Times New Roman" panose="02020603050405020304"/>
              </a:rPr>
              <a:t>They do not always consider query complexity and LLM confidence when deciding whether retrieval is required.</a:t>
            </a:r>
            <a:endParaRPr sz="2400">
              <a:latin typeface="Times New Roman" panose="02020603050405020304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>
                <a:latin typeface="Times New Roman" panose="02020603050405020304"/>
              </a:rPr>
              <a:t>Selecting the appropriate tool among SQL, RAG, APIs, and web search remains challenging.</a:t>
            </a:r>
            <a:endParaRPr sz="2400">
              <a:latin typeface="Times New Roman" panose="02020603050405020304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>
                <a:latin typeface="Times New Roman" panose="02020603050405020304"/>
              </a:rPr>
              <a:t>Multiple information sources may have different levels of relevance, reliability, freshness, and cost.</a:t>
            </a:r>
            <a:endParaRPr sz="2400">
              <a:latin typeface="Times New Roman" panose="02020603050405020304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>
                <a:latin typeface="Times New Roman" panose="02020603050405020304"/>
              </a:rPr>
              <a:t>Retrieving irrelevant or outdated sources can lead to inaccurate and unreliable responses.</a:t>
            </a:r>
            <a:endParaRPr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123444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/>
              </a:rPr>
              <a:t>  </a:t>
            </a:r>
            <a:r>
              <a:rPr sz="4000" b="1" dirty="0">
                <a:latin typeface="Times New Roman" panose="02020603050405020304"/>
              </a:rPr>
              <a:t>Objectives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40"/>
            <a:ext cx="10698480" cy="33185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400">
                <a:solidFill>
                  <a:srgbClr val="000000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To develop an external source-routing mechanism for LLM-based systems.</a:t>
            </a:r>
            <a:endParaRPr>
              <a:latin typeface="Times New Roman" panose="02020603050405020304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 sz="2400">
                <a:solidFill>
                  <a:srgbClr val="000000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To rank sources using relevance, reliability, freshness, cost, and historical success.</a:t>
            </a:r>
            <a:endParaRPr>
              <a:latin typeface="Times New Roman" panose="02020603050405020304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 sz="2400">
                <a:solidFill>
                  <a:srgbClr val="000000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To coordinate selected tools with AMOF-selected sources.</a:t>
            </a:r>
            <a:endParaRPr>
              <a:latin typeface="Times New Roman" panose="02020603050405020304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 sz="2400">
                <a:solidFill>
                  <a:srgbClr val="000000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To reduce unnecessary retrieval and computational overhead.</a:t>
            </a:r>
            <a:endParaRPr>
              <a:latin typeface="Times New Roman" panose="02020603050405020304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 sz="2400">
                <a:solidFill>
                  <a:srgbClr val="000000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To improve the reliability and efficiency of LLM responses.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10972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000" b="1">
                <a:latin typeface="Times New Roman" panose="02020603050405020304"/>
              </a:rPr>
              <a:t>Literature Survey (1–2 of 10)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0" y="6428232"/>
            <a:ext cx="82296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endParaRPr sz="1100" b="0">
              <a:solidFill>
                <a:srgbClr val="5A5A5A"/>
              </a:solidFill>
              <a:latin typeface="Times New Roman" panose="020206030504050203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15390"/>
          <a:ext cx="11041380" cy="4567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085"/>
                <a:gridCol w="2402840"/>
                <a:gridCol w="2606675"/>
                <a:gridCol w="2811780"/>
              </a:tblGrid>
              <a:tr h="89847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/>
                        </a:rPr>
                        <a:t>References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Method</a:t>
                      </a:r>
                      <a:r>
                        <a:rPr lang="en-US" sz="2400" b="1" dirty="0">
                          <a:latin typeface="Times New Roman" panose="02020603050405020304"/>
                        </a:rPr>
                        <a:t>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Key Results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Limitations 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673194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INKER: Adaptive Dynamic R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etrieval augmented generation </a:t>
                      </a:r>
                      <a:r>
                        <a:rPr sz="2000" b="0" dirty="0">
                          <a:latin typeface="Times New Roman" panose="02020603050405020304"/>
                        </a:rPr>
                        <a:t> with Internal-External Knowledge Integration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IE-KRT + IE-KQF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Adaptive retrieval; ~40% reduction in retrieval frequency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Focuses on when &amp; what to retrieve; AMOF adds where 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 to retrieve </a:t>
                      </a:r>
                      <a:r>
                        <a:rPr sz="2000" b="0" dirty="0">
                          <a:latin typeface="Times New Roman" panose="02020603050405020304"/>
                        </a:rPr>
                        <a:t>&amp; which tool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996205"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latin typeface="Times New Roman" panose="02020603050405020304"/>
                        </a:rPr>
                        <a:t>AdaKG</a:t>
                      </a:r>
                      <a:r>
                        <a:rPr sz="2000" b="0" dirty="0">
                          <a:latin typeface="Times New Roman" panose="02020603050405020304"/>
                        </a:rPr>
                        <a:t>-RAG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: Adaptive KG-guided retrieval-augmented generation with hypothesis-and-verification retrieval for multi-hop question answering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Hypothesis-Verification + KG Retrieval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Improves multi-hop retrieval; Answer F1: 0.668 → 0.713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KG-focused; AMOF supports heterogeneous sources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000" b="1">
                <a:latin typeface="Times New Roman" panose="02020603050405020304"/>
              </a:rPr>
              <a:t>Literature Survey (3–4 of 10)</a:t>
            </a:r>
            <a:endParaRPr lang="en-US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07465"/>
          <a:ext cx="10768330" cy="468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075"/>
                <a:gridCol w="2343785"/>
                <a:gridCol w="2771775"/>
                <a:gridCol w="2512695"/>
              </a:tblGrid>
              <a:tr h="90720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/>
                        </a:rPr>
                        <a:t>References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Method</a:t>
                      </a:r>
                      <a:r>
                        <a:rPr lang="en-US" sz="2400" b="1" dirty="0">
                          <a:latin typeface="Times New Roman" panose="02020603050405020304"/>
                        </a:rPr>
                        <a:t>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Key Results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Limitations 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685382"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latin typeface="Times New Roman" panose="02020603050405020304"/>
                        </a:rPr>
                        <a:t>AIR-R</a:t>
                      </a:r>
                      <a:r>
                        <a:rPr lang="en-US" sz="2000" b="0" dirty="0" err="1">
                          <a:latin typeface="Times New Roman" panose="02020603050405020304"/>
                        </a:rPr>
                        <a:t>AG:Adaptive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 retrieval for enhanced retrieval-</a:t>
                      </a:r>
                      <a:r>
                        <a:rPr lang="en-US" sz="2000" b="0" dirty="0" err="1">
                          <a:latin typeface="Times New Roman" panose="02020603050405020304"/>
                        </a:rPr>
                        <a:t>augumented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 generation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Iterative Retrieval + Feedback Ranking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Improves retrieved documents; better complex-query retrieval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Repeated retrieval increases cost/latency; AMORA pre-filters sources first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208858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" panose="02020603050405020304"/>
                        </a:rPr>
                        <a:t>Why retrieval is not </a:t>
                      </a:r>
                      <a:r>
                        <a:rPr lang="en-US" sz="2000" b="0" dirty="0" err="1">
                          <a:latin typeface="Times New Roman" panose="02020603050405020304"/>
                        </a:rPr>
                        <a:t>enough:</a:t>
                      </a:r>
                      <a:r>
                        <a:rPr sz="2000" b="0" dirty="0" err="1">
                          <a:latin typeface="Times New Roman" panose="02020603050405020304"/>
                        </a:rPr>
                        <a:t>Structured</a:t>
                      </a:r>
                      <a:r>
                        <a:rPr sz="2000" b="0" dirty="0">
                          <a:latin typeface="Times New Roman" panose="02020603050405020304"/>
                        </a:rPr>
                        <a:t> Memory Scheduling for 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Large </a:t>
                      </a:r>
                      <a:r>
                        <a:rPr sz="2000" b="0" dirty="0">
                          <a:latin typeface="Times New Roman" panose="02020603050405020304"/>
                        </a:rPr>
                        <a:t>L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anguage Model</a:t>
                      </a:r>
                      <a:r>
                        <a:rPr sz="2000" b="0" dirty="0">
                          <a:latin typeface="Times New Roman" panose="02020603050405020304"/>
                        </a:rPr>
                        <a:t> Reasoning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MemPlanner + MemScheduler + MemRouter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Dynamically schedules memory; avoids unnecessary access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Memory-focused; AMORA routes heterogeneous external sources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4800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000" b="1">
                <a:latin typeface="Times New Roman" panose="02020603050405020304"/>
              </a:rPr>
              <a:t>Literature Survey (5–6 of 10)</a:t>
            </a:r>
            <a:endParaRPr lang="en-US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3405" y="1156970"/>
          <a:ext cx="10808970" cy="4809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410"/>
                <a:gridCol w="2350770"/>
                <a:gridCol w="2552065"/>
                <a:gridCol w="2752725"/>
              </a:tblGrid>
              <a:tr h="103254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/>
                        </a:rPr>
                        <a:t>References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Method</a:t>
                      </a:r>
                      <a:r>
                        <a:rPr lang="en-US" sz="2400" b="1" dirty="0">
                          <a:latin typeface="Times New Roman" panose="02020603050405020304"/>
                        </a:rPr>
                        <a:t>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Key Results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Limitations 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2149196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Cost-Aware Structured Content Generation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 using Hybrid Retrieval-</a:t>
                      </a:r>
                      <a:r>
                        <a:rPr lang="en-US" sz="2000" b="0" dirty="0" err="1">
                          <a:latin typeface="Times New Roman" panose="02020603050405020304"/>
                        </a:rPr>
                        <a:t>Augumented</a:t>
                      </a:r>
                      <a:r>
                        <a:rPr lang="en-US" sz="2000" b="0" dirty="0">
                          <a:latin typeface="Times New Roman" panose="02020603050405020304"/>
                        </a:rPr>
                        <a:t> generations and adaptive compute routing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Hybrid RAG + RRF + Compute Routing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93.5% precision; 50.4% cost reduction; 0.31% hallucination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Mainly compute routing; AMORA uses multi-factor source ranking + tool coordination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62730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Reliable retrieval-augmented feature generation with large language model reasoning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RAFG + LLM Reasoning + Validation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~19.2% accuracy improvement on AID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Focuses after retrieval; AMORA selects reliable sources before retrieval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0"/>
            <a:ext cx="11064240" cy="617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000" b="1">
                <a:latin typeface="Times New Roman" panose="02020603050405020304"/>
              </a:rPr>
              <a:t>Literature Survey (7–8 of 10)</a:t>
            </a:r>
            <a:endParaRPr lang="en-US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345" y="1234440"/>
          <a:ext cx="11099800" cy="3858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7230"/>
                <a:gridCol w="2415540"/>
                <a:gridCol w="2620645"/>
                <a:gridCol w="282638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/>
                        </a:rPr>
                        <a:t>References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Method</a:t>
                      </a:r>
                      <a:r>
                        <a:rPr lang="en-US" sz="2400" b="1" dirty="0">
                          <a:latin typeface="Times New Roman" panose="02020603050405020304"/>
                        </a:rPr>
                        <a:t>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Key Results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Limitations 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57028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Max–Min semantic chunking of documents for RAG application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Semantic Clustering / Chunking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Improves semantic coherence; AMI: 0.85 / 0.90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Document-level approach; AMORA selects source before chunk retrieval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60250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Ontology-based federated information systems with NLP-enhanced retrieval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NLP + OBDA + Federated Retrieval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Retrieves across distributed systems; reduces implementation effort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Requires ontology mapping; AMORA uses dynamic source metadata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71450" y="112014"/>
            <a:ext cx="670941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000" b="1">
                <a:latin typeface="Times New Roman" panose="02020603050405020304"/>
              </a:rPr>
              <a:t>Literature Summary</a:t>
            </a:r>
            <a:endParaRPr lang="en-US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345" y="1234440"/>
          <a:ext cx="11012805" cy="35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1830"/>
                <a:gridCol w="2396490"/>
                <a:gridCol w="2600325"/>
                <a:gridCol w="28041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/>
                        </a:rPr>
                        <a:t>References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Method</a:t>
                      </a:r>
                      <a:r>
                        <a:rPr lang="en-US" sz="2400" b="1" dirty="0">
                          <a:latin typeface="Times New Roman" panose="02020603050405020304"/>
                        </a:rPr>
                        <a:t>s</a:t>
                      </a:r>
                      <a:endParaRPr lang="en-US"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Key Results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Times New Roman" panose="02020603050405020304"/>
                        </a:rPr>
                        <a:t>Limitations </a:t>
                      </a:r>
                      <a:endParaRPr sz="2400" b="1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078992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Knowledge Graph-Extended </a:t>
                      </a:r>
                      <a:r>
                        <a:rPr lang="en-US" sz="20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retrieval-</a:t>
                      </a:r>
                      <a:r>
                        <a:rPr lang="en-US" sz="20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augumented</a:t>
                      </a:r>
                      <a:r>
                        <a:rPr lang="en-US" sz="20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generation for question answering</a:t>
                      </a:r>
                      <a:endParaRPr lang="en-US" sz="20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KG-RAG + Question Decomposition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Improves multi-hop QA; better reasoning chains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KG-dependent; AMORA selects source type based on query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  <a:tr h="107899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ClinicGraphRAG</a:t>
                      </a:r>
                      <a:r>
                        <a:rPr lang="en-IN" sz="2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knowledge graph and LLM retrieval-augmented generation for reliable clinical decision support summaries</a:t>
                      </a:r>
                      <a:endParaRPr sz="20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Clinical KG + RAG + Provenance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/>
                        </a:rPr>
                        <a:t>98.74 ± 0.19% CV accuracy; improved evidence grounding</a:t>
                      </a:r>
                      <a:endParaRPr sz="2000" b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/>
                        </a:rPr>
                        <a:t>Healthcare-specific; AMORA provides a general source-routing layer</a:t>
                      </a:r>
                      <a:endParaRPr sz="2000" b="0" dirty="0">
                        <a:latin typeface="Times New Roman" panose="02020603050405020304"/>
                      </a:endParaRPr>
                    </a:p>
                  </a:txBody>
                  <a:tcPr marL="36576" marR="36576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/>
              </a:rPr>
              <a:t>     </a:t>
            </a:r>
            <a:r>
              <a:rPr sz="4000" b="1" dirty="0">
                <a:latin typeface="Times New Roman" panose="02020603050405020304"/>
              </a:rPr>
              <a:t>Research Gaps Identified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1325880" y="1325880"/>
            <a:ext cx="10058400" cy="374564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 dirty="0">
                <a:latin typeface="Times New Roman" panose="02020603050405020304"/>
              </a:rPr>
              <a:t>• Existing LLM and RAG systems mainly focus on adaptive retrieval, RAG routing, knowledge-source routing, or tool selection as separate problems.</a:t>
            </a:r>
            <a:endParaRPr sz="2400" dirty="0">
              <a:latin typeface="Times New Roman" panose="02020603050405020304"/>
            </a:endParaRP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 dirty="0">
                <a:latin typeface="Times New Roman" panose="02020603050405020304"/>
              </a:rPr>
              <a:t>• When a large number of heterogeneous sources are available, evaluating many sources can increase computational cost and latency.</a:t>
            </a:r>
            <a:endParaRPr sz="2400" dirty="0">
              <a:latin typeface="Times New Roman" panose="02020603050405020304"/>
            </a:endParaRP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 dirty="0">
                <a:latin typeface="Times New Roman" panose="02020603050405020304"/>
              </a:rPr>
              <a:t>• Existing approaches also provide limited integration between external source selection and LLM-based tool selection.</a:t>
            </a:r>
            <a:endParaRPr sz="2400" dirty="0">
              <a:latin typeface="Times New Roman" panose="02020603050405020304"/>
            </a:endParaRP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400" dirty="0">
                <a:latin typeface="Times New Roman" panose="02020603050405020304"/>
              </a:rPr>
              <a:t>• Therefore, there is a need for an adaptive source-routing mechanism that can dynamically rank heterogeneous sources using multiple criteria and coordinate the selected sources with LLM-selected tools</a:t>
            </a:r>
            <a:r>
              <a:rPr sz="2200" dirty="0">
                <a:latin typeface="Times New Roman" panose="02020603050405020304"/>
              </a:rPr>
              <a:t>.</a:t>
            </a:r>
            <a:endParaRPr sz="2200" dirty="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82516" cy="1143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Proposed Method(Block Diagram)</a:t>
            </a:r>
            <a:endParaRPr lang="en-IN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3810000" y="-28471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43" y="3376472"/>
            <a:ext cx="10587995" cy="213754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091445" y="5171827"/>
            <a:ext cx="1080120" cy="342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62" y="1003427"/>
            <a:ext cx="10902875" cy="316670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232604" y="3715901"/>
            <a:ext cx="1080120" cy="342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>
            <a:spLocks noGrp="1"/>
          </p:cNvSpPr>
          <p:nvPr/>
        </p:nvSpPr>
        <p:spPr>
          <a:xfrm>
            <a:off x="1731264" y="40886"/>
            <a:ext cx="6851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Design of the proposed work  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Added content"/>
          <p:cNvSpPr>
            <a:spLocks noGrp="1"/>
          </p:cNvSpPr>
          <p:nvPr/>
        </p:nvSpPr>
        <p:spPr>
          <a:xfrm>
            <a:off x="523876" y="952500"/>
            <a:ext cx="10350602" cy="561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lvl1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 IE-KRT retrieval trigger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K(tᵢ) = (E − mᵢ) · Sᵢ; retrieve when K(tᵢ) ≥ θ = 0.25. E is query complexity, mᵢ is parametric confidence, and Sᵢ is external dependency.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 Two-stage source funnel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Filter incompatible or inactive sources, then search normalized FAISS embeddings. For N = 10,000 and M = 55, SRR = 1 − M/N = 99.45%.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Six source dimensions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Relevance Rᵢ: cosine similarity. Reliability Lᵢ = α·success rate + β·availability. Freshness Fᵢ = exp(−</a:t>
            </a:r>
            <a:r>
              <a:rPr sz="1800" b="0" i="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λΔt</a:t>
            </a: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), λ = 0.005. Cost Cᵢ: normalized invocation cost. Historical success Hᵢ = (successes + α₀)/(attempts + α₀ + β₀). Conflict Kᵢ: past contradiction rate.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 Composite score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Scoreᵢ = WᵣRᵢ + WₗLᵢ + </a:t>
            </a:r>
            <a:r>
              <a:rPr sz="1800" b="0" i="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W_f</a:t>
            </a: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Fᵢ + WₕHᵢ − W꜀Cᵢ − WₖKᵢ; weights are positive and sum to 1.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 Evidence fusion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Deduplicate entities and flag numeric disagreements. Fused score = 0.4 × retrieval relevance + 0.6 × source score.</a:t>
            </a:r>
            <a:endParaRPr sz="18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274320" y="-33903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Flow Diagram/Algorithm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1577320" y="6400800"/>
            <a:ext cx="3098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buNone/>
            </a:pPr>
            <a:endParaRPr sz="12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Added content"/>
          <p:cNvSpPr>
            <a:spLocks noGrp="1"/>
          </p:cNvSpPr>
          <p:nvPr/>
        </p:nvSpPr>
        <p:spPr>
          <a:xfrm>
            <a:off x="523875" y="952500"/>
            <a:ext cx="11096625" cy="542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lvl1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buNone/>
              <a:defRPr sz="135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35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2" name="Straight Arrow Connector 31"/>
          <p:cNvCxnSpPr>
            <a:stCxn id="57" idx="1"/>
            <a:endCxn id="58" idx="3"/>
          </p:cNvCxnSpPr>
          <p:nvPr/>
        </p:nvCxnSpPr>
        <p:spPr>
          <a:xfrm flipH="1">
            <a:off x="4572000" y="5353050"/>
            <a:ext cx="723900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33" name="Straight Arrow Connector 32"/>
          <p:cNvCxnSpPr>
            <a:stCxn id="56" idx="1"/>
            <a:endCxn id="57" idx="3"/>
          </p:cNvCxnSpPr>
          <p:nvPr/>
        </p:nvCxnSpPr>
        <p:spPr>
          <a:xfrm flipH="1">
            <a:off x="7581900" y="5353050"/>
            <a:ext cx="561975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34" name="Elbow Connector 33"/>
          <p:cNvCxnSpPr>
            <a:stCxn id="54" idx="2"/>
            <a:endCxn id="56" idx="0"/>
          </p:cNvCxnSpPr>
          <p:nvPr/>
        </p:nvCxnSpPr>
        <p:spPr>
          <a:xfrm flipH="1">
            <a:off x="9215438" y="3914775"/>
            <a:ext cx="1538288" cy="103822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35" name="Straight Arrow Connector 34"/>
          <p:cNvCxnSpPr>
            <a:stCxn id="53" idx="3"/>
            <a:endCxn id="54" idx="1"/>
          </p:cNvCxnSpPr>
          <p:nvPr/>
        </p:nvCxnSpPr>
        <p:spPr>
          <a:xfrm>
            <a:off x="9544050" y="3505200"/>
            <a:ext cx="361950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36" name="Straight Arrow Connector 35"/>
          <p:cNvCxnSpPr>
            <a:stCxn id="52" idx="3"/>
            <a:endCxn id="53" idx="1"/>
          </p:cNvCxnSpPr>
          <p:nvPr/>
        </p:nvCxnSpPr>
        <p:spPr>
          <a:xfrm>
            <a:off x="7296150" y="3505200"/>
            <a:ext cx="361950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37" name="Straight Arrow Connector 36"/>
          <p:cNvCxnSpPr>
            <a:stCxn id="51" idx="3"/>
            <a:endCxn id="52" idx="1"/>
          </p:cNvCxnSpPr>
          <p:nvPr/>
        </p:nvCxnSpPr>
        <p:spPr>
          <a:xfrm>
            <a:off x="4457700" y="3505200"/>
            <a:ext cx="361950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38" name="Straight Arrow Connector 37"/>
          <p:cNvCxnSpPr>
            <a:stCxn id="50" idx="3"/>
            <a:endCxn id="51" idx="1"/>
          </p:cNvCxnSpPr>
          <p:nvPr/>
        </p:nvCxnSpPr>
        <p:spPr>
          <a:xfrm>
            <a:off x="2286000" y="3505200"/>
            <a:ext cx="361950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39" name="Elbow Connector 38"/>
          <p:cNvCxnSpPr>
            <a:stCxn id="46" idx="2"/>
            <a:endCxn id="50" idx="0"/>
          </p:cNvCxnSpPr>
          <p:nvPr/>
        </p:nvCxnSpPr>
        <p:spPr>
          <a:xfrm flipH="1">
            <a:off x="1438275" y="2286000"/>
            <a:ext cx="5029200" cy="80962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40" name="Straight Arrow Connector 39"/>
          <p:cNvCxnSpPr>
            <a:stCxn id="47" idx="3"/>
            <a:endCxn id="48" idx="1"/>
          </p:cNvCxnSpPr>
          <p:nvPr/>
        </p:nvCxnSpPr>
        <p:spPr>
          <a:xfrm>
            <a:off x="9944100" y="1571625"/>
            <a:ext cx="295275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41" name="Straight Arrow Connector 40"/>
          <p:cNvCxnSpPr>
            <a:stCxn id="46" idx="3"/>
            <a:endCxn id="47" idx="1"/>
          </p:cNvCxnSpPr>
          <p:nvPr/>
        </p:nvCxnSpPr>
        <p:spPr>
          <a:xfrm flipV="1">
            <a:off x="7181850" y="1571625"/>
            <a:ext cx="952500" cy="219075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42" name="Straight Arrow Connector 41"/>
          <p:cNvCxnSpPr>
            <a:stCxn id="45" idx="3"/>
            <a:endCxn id="46" idx="1"/>
          </p:cNvCxnSpPr>
          <p:nvPr/>
        </p:nvCxnSpPr>
        <p:spPr>
          <a:xfrm>
            <a:off x="5238750" y="1790700"/>
            <a:ext cx="514350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cxnSp>
        <p:nvCxnSpPr>
          <p:cNvPr id="43" name="Straight Arrow Connector 42"/>
          <p:cNvCxnSpPr>
            <a:stCxn id="44" idx="3"/>
            <a:endCxn id="45" idx="1"/>
          </p:cNvCxnSpPr>
          <p:nvPr/>
        </p:nvCxnSpPr>
        <p:spPr>
          <a:xfrm>
            <a:off x="2400300" y="1790700"/>
            <a:ext cx="457200" cy="0"/>
          </a:xfrm>
          <a:prstGeom prst="straightConnector1">
            <a:avLst/>
          </a:prstGeom>
          <a:ln w="20955">
            <a:solidFill>
              <a:srgbClr val="98A9B8"/>
            </a:solidFill>
            <a:prstDash val="solid"/>
            <a:tailEnd type="arrow" w="med" len="med"/>
          </a:ln>
        </p:spPr>
      </p:cxnSp>
      <p:sp>
        <p:nvSpPr>
          <p:cNvPr id="44" name="input"/>
          <p:cNvSpPr>
            <a:spLocks noGrp="1"/>
          </p:cNvSpPr>
          <p:nvPr/>
        </p:nvSpPr>
        <p:spPr>
          <a:xfrm>
            <a:off x="590550" y="1381125"/>
            <a:ext cx="1809750" cy="819150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9050">
            <a:solidFill>
              <a:srgbClr val="102A43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Input: query Q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Catalog C (N endpoints)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θ = 0.25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45" name="compute-k"/>
          <p:cNvSpPr>
            <a:spLocks noGrp="1"/>
          </p:cNvSpPr>
          <p:nvPr/>
        </p:nvSpPr>
        <p:spPr>
          <a:xfrm>
            <a:off x="2857500" y="1381125"/>
            <a:ext cx="2381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087E8B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Compute K = (E(Q) − m_parametric(Q)) × S(Q)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46" name="threshold"/>
          <p:cNvSpPr>
            <a:spLocks noGrp="1"/>
          </p:cNvSpPr>
          <p:nvPr/>
        </p:nvSpPr>
        <p:spPr>
          <a:xfrm>
            <a:off x="5753100" y="1295400"/>
            <a:ext cx="1428750" cy="990600"/>
          </a:xfrm>
          <a:prstGeom prst="diamond">
            <a:avLst/>
          </a:prstGeom>
          <a:solidFill>
            <a:schemeClr val="bg1"/>
          </a:solidFill>
          <a:ln w="19050">
            <a:solidFill>
              <a:srgbClr val="F4A261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B4D"/>
                </a:solidFill>
              </a:defRPr>
            </a:defPPr>
            <a:lvl1pPr algn="ctr">
              <a:buNone/>
              <a:defRPr sz="1500" b="1">
                <a:solidFill>
                  <a:srgbClr val="172B4D"/>
                </a:solidFill>
              </a:defRPr>
            </a:lvl1pPr>
            <a:lvl2pPr algn="ctr">
              <a:buNone/>
              <a:defRPr sz="1500" b="1">
                <a:solidFill>
                  <a:srgbClr val="172B4D"/>
                </a:solidFill>
              </a:defRPr>
            </a:lvl2pPr>
            <a:lvl3pPr algn="ctr">
              <a:buNone/>
              <a:defRPr sz="1500" b="1">
                <a:solidFill>
                  <a:srgbClr val="172B4D"/>
                </a:solidFill>
              </a:defRPr>
            </a:lvl3pPr>
            <a:lvl4pPr algn="ctr">
              <a:buNone/>
              <a:defRPr sz="1500" b="1">
                <a:solidFill>
                  <a:srgbClr val="172B4D"/>
                </a:solidFill>
              </a:defRPr>
            </a:lvl4pPr>
            <a:lvl5pPr algn="ctr">
              <a:buNone/>
              <a:defRPr sz="1500" b="1">
                <a:solidFill>
                  <a:srgbClr val="172B4D"/>
                </a:solidFill>
              </a:defRPr>
            </a:lvl5pPr>
            <a:lvl6pPr algn="ctr">
              <a:buNone/>
              <a:defRPr sz="1500" b="1">
                <a:solidFill>
                  <a:srgbClr val="172B4D"/>
                </a:solidFill>
              </a:defRPr>
            </a:lvl6pPr>
            <a:lvl7pPr algn="ctr">
              <a:buNone/>
              <a:defRPr sz="1500" b="1">
                <a:solidFill>
                  <a:srgbClr val="172B4D"/>
                </a:solidFill>
              </a:defRPr>
            </a:lvl7pPr>
            <a:lvl8pPr algn="ctr">
              <a:buNone/>
              <a:defRPr sz="1500" b="1">
                <a:solidFill>
                  <a:srgbClr val="172B4D"/>
                </a:solidFill>
              </a:defRPr>
            </a:lvl8pPr>
            <a:lvl9pPr algn="ctr">
              <a:buNone/>
              <a:defRPr sz="150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K &lt; θ?</a:t>
            </a:r>
            <a:endParaRPr sz="1500" b="1">
              <a:solidFill>
                <a:srgbClr val="172B4D"/>
              </a:solidFill>
            </a:endParaRPr>
          </a:p>
        </p:txBody>
      </p:sp>
      <p:sp>
        <p:nvSpPr>
          <p:cNvPr id="47" name="parametric"/>
          <p:cNvSpPr>
            <a:spLocks noGrp="1"/>
          </p:cNvSpPr>
          <p:nvPr/>
        </p:nvSpPr>
        <p:spPr>
          <a:xfrm>
            <a:off x="8134350" y="1238250"/>
            <a:ext cx="1809750" cy="66675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rgbClr val="F4A261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Generate parametric response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48" name="param-return"/>
          <p:cNvSpPr>
            <a:spLocks noGrp="1"/>
          </p:cNvSpPr>
          <p:nvPr/>
        </p:nvSpPr>
        <p:spPr>
          <a:xfrm>
            <a:off x="10239375" y="1238250"/>
            <a:ext cx="1333500" cy="66675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rgbClr val="B94A48"/>
            </a:solidFill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172B4D"/>
                </a:solidFill>
              </a:defRPr>
            </a:defPPr>
            <a:lvl1pPr algn="ctr">
              <a:buNone/>
              <a:defRPr sz="1425" b="1">
                <a:solidFill>
                  <a:srgbClr val="172B4D"/>
                </a:solidFill>
              </a:defRPr>
            </a:lvl1pPr>
            <a:lvl2pPr algn="ctr">
              <a:buNone/>
              <a:defRPr sz="1425" b="1">
                <a:solidFill>
                  <a:srgbClr val="172B4D"/>
                </a:solidFill>
              </a:defRPr>
            </a:lvl2pPr>
            <a:lvl3pPr algn="ctr">
              <a:buNone/>
              <a:defRPr sz="1425" b="1">
                <a:solidFill>
                  <a:srgbClr val="172B4D"/>
                </a:solidFill>
              </a:defRPr>
            </a:lvl3pPr>
            <a:lvl4pPr algn="ctr">
              <a:buNone/>
              <a:defRPr sz="1425" b="1">
                <a:solidFill>
                  <a:srgbClr val="172B4D"/>
                </a:solidFill>
              </a:defRPr>
            </a:lvl4pPr>
            <a:lvl5pPr algn="ctr">
              <a:buNone/>
              <a:defRPr sz="1425" b="1">
                <a:solidFill>
                  <a:srgbClr val="172B4D"/>
                </a:solidFill>
              </a:defRPr>
            </a:lvl5pPr>
            <a:lvl6pPr algn="ctr">
              <a:buNone/>
              <a:defRPr sz="1425" b="1">
                <a:solidFill>
                  <a:srgbClr val="172B4D"/>
                </a:solidFill>
              </a:defRPr>
            </a:lvl6pPr>
            <a:lvl7pPr algn="ctr">
              <a:buNone/>
              <a:defRPr sz="1425" b="1">
                <a:solidFill>
                  <a:srgbClr val="172B4D"/>
                </a:solidFill>
              </a:defRPr>
            </a:lvl7pPr>
            <a:lvl8pPr algn="ctr">
              <a:buNone/>
              <a:defRPr sz="1425" b="1">
                <a:solidFill>
                  <a:srgbClr val="172B4D"/>
                </a:solidFill>
              </a:defRPr>
            </a:lvl8pPr>
            <a:lvl9pPr algn="ctr">
              <a:buNone/>
              <a:defRPr sz="1425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Return A</a:t>
            </a:r>
            <a:endParaRPr sz="1425" b="1">
              <a:solidFill>
                <a:srgbClr val="172B4D"/>
              </a:solidFill>
            </a:endParaRPr>
          </a:p>
        </p:txBody>
      </p:sp>
      <p:sp>
        <p:nvSpPr>
          <p:cNvPr id="49" name="yes-label"/>
          <p:cNvSpPr>
            <a:spLocks noGrp="1"/>
          </p:cNvSpPr>
          <p:nvPr/>
        </p:nvSpPr>
        <p:spPr>
          <a:xfrm>
            <a:off x="7334250" y="126682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167D62"/>
                </a:solidFill>
              </a:defRPr>
            </a:defPPr>
            <a:lvl1pPr algn="ctr">
              <a:buNone/>
              <a:defRPr sz="1125" b="1">
                <a:solidFill>
                  <a:srgbClr val="167D62"/>
                </a:solidFill>
              </a:defRPr>
            </a:lvl1pPr>
            <a:lvl2pPr algn="ctr">
              <a:buNone/>
              <a:defRPr sz="1125" b="1">
                <a:solidFill>
                  <a:srgbClr val="167D62"/>
                </a:solidFill>
              </a:defRPr>
            </a:lvl2pPr>
            <a:lvl3pPr algn="ctr">
              <a:buNone/>
              <a:defRPr sz="1125" b="1">
                <a:solidFill>
                  <a:srgbClr val="167D62"/>
                </a:solidFill>
              </a:defRPr>
            </a:lvl3pPr>
            <a:lvl4pPr algn="ctr">
              <a:buNone/>
              <a:defRPr sz="1125" b="1">
                <a:solidFill>
                  <a:srgbClr val="167D62"/>
                </a:solidFill>
              </a:defRPr>
            </a:lvl4pPr>
            <a:lvl5pPr algn="ctr">
              <a:buNone/>
              <a:defRPr sz="1125" b="1">
                <a:solidFill>
                  <a:srgbClr val="167D62"/>
                </a:solidFill>
              </a:defRPr>
            </a:lvl5pPr>
            <a:lvl6pPr algn="ctr">
              <a:buNone/>
              <a:defRPr sz="1125" b="1">
                <a:solidFill>
                  <a:srgbClr val="167D62"/>
                </a:solidFill>
              </a:defRPr>
            </a:lvl6pPr>
            <a:lvl7pPr algn="ctr">
              <a:buNone/>
              <a:defRPr sz="1125" b="1">
                <a:solidFill>
                  <a:srgbClr val="167D62"/>
                </a:solidFill>
              </a:defRPr>
            </a:lvl7pPr>
            <a:lvl8pPr algn="ctr">
              <a:buNone/>
              <a:defRPr sz="1125" b="1">
                <a:solidFill>
                  <a:srgbClr val="167D62"/>
                </a:solidFill>
              </a:defRPr>
            </a:lvl8pPr>
            <a:lvl9pPr algn="ctr">
              <a:buNone/>
              <a:defRPr sz="1125" b="1">
                <a:solidFill>
                  <a:srgbClr val="167D62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167D62"/>
                </a:solidFill>
              </a:defRPr>
            </a:pPr>
            <a:r>
              <a:rPr sz="1125" b="1">
                <a:solidFill>
                  <a:srgbClr val="167D62"/>
                </a:solidFill>
              </a:rPr>
              <a:t>YES</a:t>
            </a:r>
            <a:endParaRPr sz="1125" b="1">
              <a:solidFill>
                <a:srgbClr val="167D62"/>
              </a:solidFill>
            </a:endParaRPr>
          </a:p>
        </p:txBody>
      </p:sp>
      <p:sp>
        <p:nvSpPr>
          <p:cNvPr id="50" name="expand-intent"/>
          <p:cNvSpPr>
            <a:spLocks noGrp="1"/>
          </p:cNvSpPr>
          <p:nvPr/>
        </p:nvSpPr>
        <p:spPr>
          <a:xfrm>
            <a:off x="590550" y="3095625"/>
            <a:ext cx="1695450" cy="819150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9050">
            <a:solidFill>
              <a:srgbClr val="087E8B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Expand intent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q+ = IE-KQF(Q)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51" name="retrieve"/>
          <p:cNvSpPr>
            <a:spLocks noGrp="1"/>
          </p:cNvSpPr>
          <p:nvPr/>
        </p:nvSpPr>
        <p:spPr>
          <a:xfrm>
            <a:off x="2647950" y="3095625"/>
            <a:ext cx="1809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087E8B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FAISS funnel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retrieve 55 candidates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52" name="weight-score"/>
          <p:cNvSpPr>
            <a:spLocks noGrp="1"/>
          </p:cNvSpPr>
          <p:nvPr/>
        </p:nvSpPr>
        <p:spPr>
          <a:xfrm>
            <a:off x="4819650" y="2905125"/>
            <a:ext cx="2476500" cy="120015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19050">
            <a:solidFill>
              <a:srgbClr val="102A43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72B4D"/>
                </a:solidFill>
              </a:defRPr>
            </a:defPPr>
            <a:lvl1pPr algn="ctr">
              <a:buNone/>
              <a:defRPr sz="1275" b="1">
                <a:solidFill>
                  <a:srgbClr val="172B4D"/>
                </a:solidFill>
              </a:defRPr>
            </a:lvl1pPr>
            <a:lvl2pPr algn="ctr">
              <a:buNone/>
              <a:defRPr sz="1275" b="1">
                <a:solidFill>
                  <a:srgbClr val="172B4D"/>
                </a:solidFill>
              </a:defRPr>
            </a:lvl2pPr>
            <a:lvl3pPr algn="ctr">
              <a:buNone/>
              <a:defRPr sz="1275" b="1">
                <a:solidFill>
                  <a:srgbClr val="172B4D"/>
                </a:solidFill>
              </a:defRPr>
            </a:lvl3pPr>
            <a:lvl4pPr algn="ctr">
              <a:buNone/>
              <a:defRPr sz="1275" b="1">
                <a:solidFill>
                  <a:srgbClr val="172B4D"/>
                </a:solidFill>
              </a:defRPr>
            </a:lvl4pPr>
            <a:lvl5pPr algn="ctr">
              <a:buNone/>
              <a:defRPr sz="1275" b="1">
                <a:solidFill>
                  <a:srgbClr val="172B4D"/>
                </a:solidFill>
              </a:defRPr>
            </a:lvl5pPr>
            <a:lvl6pPr algn="ctr">
              <a:buNone/>
              <a:defRPr sz="1275" b="1">
                <a:solidFill>
                  <a:srgbClr val="172B4D"/>
                </a:solidFill>
              </a:defRPr>
            </a:lvl6pPr>
            <a:lvl7pPr algn="ctr">
              <a:buNone/>
              <a:defRPr sz="1275" b="1">
                <a:solidFill>
                  <a:srgbClr val="172B4D"/>
                </a:solidFill>
              </a:defRPr>
            </a:lvl7pPr>
            <a:lvl8pPr algn="ctr">
              <a:buNone/>
              <a:defRPr sz="1275" b="1">
                <a:solidFill>
                  <a:srgbClr val="172B4D"/>
                </a:solidFill>
              </a:defRPr>
            </a:lvl8pPr>
            <a:lvl9pPr algn="ctr">
              <a:buNone/>
              <a:defRPr sz="1275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Compute dynamic W</a:t>
            </a:r>
            <a:endParaRPr sz="1275" b="1">
              <a:solidFill>
                <a:srgbClr val="172B4D"/>
              </a:solidFill>
            </a:endParaRPr>
          </a:p>
          <a:p>
            <a:pPr algn="ctr">
              <a:buNone/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ΣW = 1</a:t>
            </a:r>
            <a:endParaRPr sz="1275" b="1">
              <a:solidFill>
                <a:srgbClr val="172B4D"/>
              </a:solidFill>
            </a:endParaRPr>
          </a:p>
          <a:p>
            <a:pPr algn="ctr">
              <a:buNone/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Score relevance, reliability, freshness, history − cost − conflict</a:t>
            </a:r>
            <a:endParaRPr sz="1275" b="1">
              <a:solidFill>
                <a:srgbClr val="172B4D"/>
              </a:solidFill>
            </a:endParaRPr>
          </a:p>
        </p:txBody>
      </p:sp>
      <p:sp>
        <p:nvSpPr>
          <p:cNvPr id="53" name="select-execute"/>
          <p:cNvSpPr>
            <a:spLocks noGrp="1"/>
          </p:cNvSpPr>
          <p:nvPr/>
        </p:nvSpPr>
        <p:spPr>
          <a:xfrm>
            <a:off x="7658100" y="3000375"/>
            <a:ext cx="18859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087E8B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Select top 3 tools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Execute in parallel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SQL · REST · vector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54" name="clean-evidence"/>
          <p:cNvSpPr>
            <a:spLocks noGrp="1"/>
          </p:cNvSpPr>
          <p:nvPr/>
        </p:nvSpPr>
        <p:spPr>
          <a:xfrm>
            <a:off x="9906000" y="3095625"/>
            <a:ext cx="1695450" cy="819150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9050">
            <a:solidFill>
              <a:srgbClr val="087E8B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Deduplicate payloads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Check conflicts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55" name="no-label"/>
          <p:cNvSpPr>
            <a:spLocks noGrp="1"/>
          </p:cNvSpPr>
          <p:nvPr/>
        </p:nvSpPr>
        <p:spPr>
          <a:xfrm>
            <a:off x="6667500" y="24765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087E8B"/>
                </a:solidFill>
              </a:defRPr>
            </a:defPPr>
            <a:lvl1pPr algn="ctr">
              <a:buNone/>
              <a:defRPr sz="1125" b="1">
                <a:solidFill>
                  <a:srgbClr val="087E8B"/>
                </a:solidFill>
              </a:defRPr>
            </a:lvl1pPr>
            <a:lvl2pPr algn="ctr">
              <a:buNone/>
              <a:defRPr sz="1125" b="1">
                <a:solidFill>
                  <a:srgbClr val="087E8B"/>
                </a:solidFill>
              </a:defRPr>
            </a:lvl2pPr>
            <a:lvl3pPr algn="ctr">
              <a:buNone/>
              <a:defRPr sz="1125" b="1">
                <a:solidFill>
                  <a:srgbClr val="087E8B"/>
                </a:solidFill>
              </a:defRPr>
            </a:lvl3pPr>
            <a:lvl4pPr algn="ctr">
              <a:buNone/>
              <a:defRPr sz="1125" b="1">
                <a:solidFill>
                  <a:srgbClr val="087E8B"/>
                </a:solidFill>
              </a:defRPr>
            </a:lvl4pPr>
            <a:lvl5pPr algn="ctr">
              <a:buNone/>
              <a:defRPr sz="1125" b="1">
                <a:solidFill>
                  <a:srgbClr val="087E8B"/>
                </a:solidFill>
              </a:defRPr>
            </a:lvl5pPr>
            <a:lvl6pPr algn="ctr">
              <a:buNone/>
              <a:defRPr sz="1125" b="1">
                <a:solidFill>
                  <a:srgbClr val="087E8B"/>
                </a:solidFill>
              </a:defRPr>
            </a:lvl6pPr>
            <a:lvl7pPr algn="ctr">
              <a:buNone/>
              <a:defRPr sz="1125" b="1">
                <a:solidFill>
                  <a:srgbClr val="087E8B"/>
                </a:solidFill>
              </a:defRPr>
            </a:lvl7pPr>
            <a:lvl8pPr algn="ctr">
              <a:buNone/>
              <a:defRPr sz="1125" b="1">
                <a:solidFill>
                  <a:srgbClr val="087E8B"/>
                </a:solidFill>
              </a:defRPr>
            </a:lvl8pPr>
            <a:lvl9pPr algn="ctr">
              <a:buNone/>
              <a:defRPr sz="1125" b="1">
                <a:solidFill>
                  <a:srgbClr val="087E8B"/>
                </a:solidFill>
              </a:defRPr>
            </a:lvl9pPr>
          </a:lstStyle>
          <a:p>
            <a:pPr algn="ctr">
              <a:buNone/>
              <a:defRPr sz="1125" b="1">
                <a:solidFill>
                  <a:srgbClr val="087E8B"/>
                </a:solidFill>
              </a:defRPr>
            </a:pPr>
            <a:r>
              <a:rPr sz="1125" b="1">
                <a:solidFill>
                  <a:srgbClr val="087E8B"/>
                </a:solidFill>
              </a:rPr>
              <a:t>NO</a:t>
            </a:r>
            <a:endParaRPr sz="1125" b="1">
              <a:solidFill>
                <a:srgbClr val="087E8B"/>
              </a:solidFill>
            </a:endParaRPr>
          </a:p>
        </p:txBody>
      </p:sp>
      <p:sp>
        <p:nvSpPr>
          <p:cNvPr id="56" name="generate-answer"/>
          <p:cNvSpPr>
            <a:spLocks noGrp="1"/>
          </p:cNvSpPr>
          <p:nvPr/>
        </p:nvSpPr>
        <p:spPr>
          <a:xfrm>
            <a:off x="8143875" y="4953000"/>
            <a:ext cx="2143125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rgbClr val="102A43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Local LLM generates A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from cleaned evidence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57" name="update-priors"/>
          <p:cNvSpPr>
            <a:spLocks noGrp="1"/>
          </p:cNvSpPr>
          <p:nvPr/>
        </p:nvSpPr>
        <p:spPr>
          <a:xfrm>
            <a:off x="5295900" y="4953000"/>
            <a:ext cx="2286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87E8B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72B4D"/>
                </a:solidFill>
              </a:defRPr>
            </a:defPPr>
            <a:lvl1pPr algn="ctr">
              <a:buNone/>
              <a:defRPr sz="1350" b="1">
                <a:solidFill>
                  <a:srgbClr val="172B4D"/>
                </a:solidFill>
              </a:defRPr>
            </a:lvl1pPr>
            <a:lvl2pPr algn="ctr">
              <a:buNone/>
              <a:defRPr sz="1350" b="1">
                <a:solidFill>
                  <a:srgbClr val="172B4D"/>
                </a:solidFill>
              </a:defRPr>
            </a:lvl2pPr>
            <a:lvl3pPr algn="ctr">
              <a:buNone/>
              <a:defRPr sz="1350" b="1">
                <a:solidFill>
                  <a:srgbClr val="172B4D"/>
                </a:solidFill>
              </a:defRPr>
            </a:lvl3pPr>
            <a:lvl4pPr algn="ctr">
              <a:buNone/>
              <a:defRPr sz="1350" b="1">
                <a:solidFill>
                  <a:srgbClr val="172B4D"/>
                </a:solidFill>
              </a:defRPr>
            </a:lvl4pPr>
            <a:lvl5pPr algn="ctr">
              <a:buNone/>
              <a:defRPr sz="1350" b="1">
                <a:solidFill>
                  <a:srgbClr val="172B4D"/>
                </a:solidFill>
              </a:defRPr>
            </a:lvl5pPr>
            <a:lvl6pPr algn="ctr">
              <a:buNone/>
              <a:defRPr sz="1350" b="1">
                <a:solidFill>
                  <a:srgbClr val="172B4D"/>
                </a:solidFill>
              </a:defRPr>
            </a:lvl6pPr>
            <a:lvl7pPr algn="ctr">
              <a:buNone/>
              <a:defRPr sz="1350" b="1">
                <a:solidFill>
                  <a:srgbClr val="172B4D"/>
                </a:solidFill>
              </a:defRPr>
            </a:lvl7pPr>
            <a:lvl8pPr algn="ctr">
              <a:buNone/>
              <a:defRPr sz="1350" b="1">
                <a:solidFill>
                  <a:srgbClr val="172B4D"/>
                </a:solidFill>
              </a:defRPr>
            </a:lvl8pPr>
            <a:lvl9pPr algn="ctr">
              <a:buNone/>
              <a:defRPr sz="1350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Update Bayesian tool priors</a:t>
            </a:r>
            <a:endParaRPr sz="1350" b="1">
              <a:solidFill>
                <a:srgbClr val="172B4D"/>
              </a:solidFill>
            </a:endParaRPr>
          </a:p>
          <a:p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from execution status</a:t>
            </a:r>
            <a:endParaRPr sz="1350" b="1">
              <a:solidFill>
                <a:srgbClr val="172B4D"/>
              </a:solidFill>
            </a:endParaRPr>
          </a:p>
        </p:txBody>
      </p:sp>
      <p:sp>
        <p:nvSpPr>
          <p:cNvPr id="58" name="grounded-return"/>
          <p:cNvSpPr>
            <a:spLocks noGrp="1"/>
          </p:cNvSpPr>
          <p:nvPr/>
        </p:nvSpPr>
        <p:spPr>
          <a:xfrm>
            <a:off x="2381250" y="4953000"/>
            <a:ext cx="219075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rgbClr val="167D62"/>
            </a:solidFill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172B4D"/>
                </a:solidFill>
              </a:defRPr>
            </a:defPPr>
            <a:lvl1pPr algn="ctr">
              <a:buNone/>
              <a:defRPr sz="1425" b="1">
                <a:solidFill>
                  <a:srgbClr val="172B4D"/>
                </a:solidFill>
              </a:defRPr>
            </a:lvl1pPr>
            <a:lvl2pPr algn="ctr">
              <a:buNone/>
              <a:defRPr sz="1425" b="1">
                <a:solidFill>
                  <a:srgbClr val="172B4D"/>
                </a:solidFill>
              </a:defRPr>
            </a:lvl2pPr>
            <a:lvl3pPr algn="ctr">
              <a:buNone/>
              <a:defRPr sz="1425" b="1">
                <a:solidFill>
                  <a:srgbClr val="172B4D"/>
                </a:solidFill>
              </a:defRPr>
            </a:lvl3pPr>
            <a:lvl4pPr algn="ctr">
              <a:buNone/>
              <a:defRPr sz="1425" b="1">
                <a:solidFill>
                  <a:srgbClr val="172B4D"/>
                </a:solidFill>
              </a:defRPr>
            </a:lvl4pPr>
            <a:lvl5pPr algn="ctr">
              <a:buNone/>
              <a:defRPr sz="1425" b="1">
                <a:solidFill>
                  <a:srgbClr val="172B4D"/>
                </a:solidFill>
              </a:defRPr>
            </a:lvl5pPr>
            <a:lvl6pPr algn="ctr">
              <a:buNone/>
              <a:defRPr sz="1425" b="1">
                <a:solidFill>
                  <a:srgbClr val="172B4D"/>
                </a:solidFill>
              </a:defRPr>
            </a:lvl6pPr>
            <a:lvl7pPr algn="ctr">
              <a:buNone/>
              <a:defRPr sz="1425" b="1">
                <a:solidFill>
                  <a:srgbClr val="172B4D"/>
                </a:solidFill>
              </a:defRPr>
            </a:lvl7pPr>
            <a:lvl8pPr algn="ctr">
              <a:buNone/>
              <a:defRPr sz="1425" b="1">
                <a:solidFill>
                  <a:srgbClr val="172B4D"/>
                </a:solidFill>
              </a:defRPr>
            </a:lvl8pPr>
            <a:lvl9pPr algn="ctr">
              <a:buNone/>
              <a:defRPr sz="1425" b="1">
                <a:solidFill>
                  <a:srgbClr val="172B4D"/>
                </a:solidFill>
              </a:defRPr>
            </a:lvl9pPr>
          </a:lstStyle>
          <a:p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Return grounded answer A</a:t>
            </a:r>
            <a:endParaRPr sz="1425" b="1">
              <a:solidFill>
                <a:srgbClr val="172B4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4235" y="419735"/>
            <a:ext cx="4145915" cy="45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548640" y="3655060"/>
          <a:ext cx="10848340" cy="2745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625"/>
                <a:gridCol w="3181350"/>
                <a:gridCol w="4063365"/>
              </a:tblGrid>
              <a:tr h="368935">
                <a:tc>
                  <a:txBody>
                    <a:bodyPr/>
                    <a:lstStyle/>
                    <a:p>
                      <a:r>
                        <a:rPr lang="en-US" altLang="zh-CN" sz="1800"/>
                        <a:t>Parameter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Value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Rationale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</a:tr>
              <a:tr h="368935">
                <a:tc>
                  <a:txBody>
                    <a:bodyPr/>
                    <a:lstStyle/>
                    <a:p>
                      <a:r>
                        <a:rPr lang="en-US" altLang="zh-CN" sz="1800"/>
                        <a:t>IE-KRT threshold (θ)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0.25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Skip trivial retrieval while retaining recall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</a:tr>
              <a:tr h="368935">
                <a:tc>
                  <a:txBody>
                    <a:bodyPr/>
                    <a:lstStyle/>
                    <a:p>
                      <a:r>
                        <a:rPr lang="en-US" altLang="zh-CN" sz="1800"/>
                        <a:t>Candidate count (M)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55 of 10,000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Over 99.4% candidate reduction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</a:tr>
              <a:tr h="368935">
                <a:tc>
                  <a:txBody>
                    <a:bodyPr/>
                    <a:lstStyle/>
                    <a:p>
                      <a:r>
                        <a:rPr lang="en-US" altLang="zh-CN" sz="1800"/>
                        <a:t>Freshness decay (λ)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0.005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Score halves after about 138 hours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</a:tr>
              <a:tr h="368935">
                <a:tc>
                  <a:txBody>
                    <a:bodyPr/>
                    <a:lstStyle/>
                    <a:p>
                      <a:r>
                        <a:rPr lang="en-US" altLang="zh-CN" sz="1800"/>
                        <a:t>Beta prior (α₀, β₀)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1.0, 1.0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Uniform smoothing for cold-start tools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</a:tr>
              <a:tr h="532130">
                <a:tc>
                  <a:txBody>
                    <a:bodyPr/>
                    <a:lstStyle/>
                    <a:p>
                      <a:r>
                        <a:rPr lang="en-US" altLang="zh-CN" sz="1800"/>
                        <a:t>Fusion weights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0.4 retrieval, 0.6 source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Balance match quality and source integrity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</a:tr>
              <a:tr h="368935">
                <a:tc>
                  <a:txBody>
                    <a:bodyPr/>
                    <a:lstStyle/>
                    <a:p>
                      <a:r>
                        <a:rPr lang="en-US" altLang="zh-CN" sz="1800"/>
                        <a:t>NUM_PREDICT cap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4,096 tokens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Bound extended generation context</a:t>
                      </a:r>
                      <a:endParaRPr lang="en-US" altLang="zh-CN" sz="1800"/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" name="TextBox 1"/>
          <p:cNvSpPr>
            <a:spLocks noGrp="1"/>
          </p:cNvSpPr>
          <p:nvPr/>
        </p:nvSpPr>
        <p:spPr>
          <a:xfrm>
            <a:off x="548640" y="41275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Simulation Software and Parameters 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Added content"/>
          <p:cNvSpPr>
            <a:spLocks noGrp="1"/>
          </p:cNvSpPr>
          <p:nvPr/>
        </p:nvSpPr>
        <p:spPr>
          <a:xfrm>
            <a:off x="528320" y="1066800"/>
            <a:ext cx="11092180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lvl1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buNone/>
              <a:defRPr sz="12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lang="en-US" altLang="en-US" sz="127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Picture 6" descr="Untitled - Visual 1"/>
          <p:cNvPicPr>
            <a:picLocks noChangeAspect="1"/>
          </p:cNvPicPr>
          <p:nvPr/>
        </p:nvPicPr>
        <p:blipFill>
          <a:blip r:embed="rId2"/>
          <a:srcRect t="19306" r="43616"/>
          <a:stretch>
            <a:fillRect/>
          </a:stretch>
        </p:blipFill>
        <p:spPr>
          <a:xfrm>
            <a:off x="290830" y="718185"/>
            <a:ext cx="11730990" cy="27108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3491865" y="148590"/>
            <a:ext cx="5547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Results and Discussion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7085" y="1031899"/>
          <a:ext cx="10805651" cy="535907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298631"/>
                <a:gridCol w="1296365"/>
                <a:gridCol w="1009650"/>
                <a:gridCol w="1340268"/>
                <a:gridCol w="1492839"/>
                <a:gridCol w="1560147"/>
                <a:gridCol w="1807751"/>
              </a:tblGrid>
              <a:tr h="788228"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Method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Recall@5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MRR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nDCG@5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Retrieval Rate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Prompt Tokens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Avg. Latency (ms)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761807"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Baseline 6: Random Selection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0.350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0.300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0.313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100.0%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542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1444.4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761807"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Baseline 1: Standard RAG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0.625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0.700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0.642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100.0%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509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1613.5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761807"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Baseline 2: INKER Pipeline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0.900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0.767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0.801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65.0%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806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1824.0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761807"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Baseline 3: Similarity-Only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0.817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0.864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100.0%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1073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1677.5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761807"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Baseline 4: Fixed-Weight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0.950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0.825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0.858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100.0%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1043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1875.8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761807"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Baseline 5: AMORA Full (Ours)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0.850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0.725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0.758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65.0%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786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1892.0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3491865" y="148590"/>
            <a:ext cx="5547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Results and Discussion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74228" y="856476"/>
          <a:ext cx="8782634" cy="248374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52335"/>
                <a:gridCol w="1989984"/>
                <a:gridCol w="2369388"/>
                <a:gridCol w="1770927"/>
              </a:tblGrid>
              <a:tr h="540774">
                <a:tc>
                  <a:txBody>
                    <a:bodyPr/>
                    <a:lstStyle/>
                    <a:p>
                      <a:pPr marL="125095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Catalog Size (N 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Stage-1 Output (M 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Latency (</a:t>
                      </a:r>
                      <a:r>
                        <a:rPr lang="en-US" sz="1400" kern="100" dirty="0" err="1">
                          <a:effectLst/>
                        </a:rPr>
                        <a:t>ms</a:t>
                      </a:r>
                      <a:r>
                        <a:rPr lang="en-US" sz="1400" kern="100" dirty="0">
                          <a:effectLst/>
                        </a:rPr>
                        <a:t>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SRR (%)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395731"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100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55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4.14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90.9%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395731"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500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55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3.88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90.9%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395731"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1,000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55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3.29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94.5%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395731"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5,000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55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3.27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98.9%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  <a:tr h="260737"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10,000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55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3.26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99.4%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67" y="3617090"/>
            <a:ext cx="10515970" cy="27837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329184" y="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 / PSO Mapping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20" name="Table 3"/>
          <p:cNvGraphicFramePr/>
          <p:nvPr/>
        </p:nvGraphicFramePr>
        <p:xfrm>
          <a:off x="457200" y="694944"/>
          <a:ext cx="1106424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  <a:gridCol w="737616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PO2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PO3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PO4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PO5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PO6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PO7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PO8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PO9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PO10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PO11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PO12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PSO1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PSO2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PSO3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0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 marL="18288" marR="18288" anchor="ctr"/>
                </a:tc>
              </a:tr>
            </a:tbl>
          </a:graphicData>
        </a:graphic>
      </p:graphicFrame>
      <p:graphicFrame>
        <p:nvGraphicFramePr>
          <p:cNvPr id="21" name="Table 12"/>
          <p:cNvGraphicFramePr/>
          <p:nvPr/>
        </p:nvGraphicFramePr>
        <p:xfrm>
          <a:off x="158496" y="2051304"/>
          <a:ext cx="11728705" cy="421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178"/>
                <a:gridCol w="8723830"/>
                <a:gridCol w="1841697"/>
              </a:tblGrid>
              <a:tr h="598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 No.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What I learnt in AMORA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Mapping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Engineering knowledge: Applied optimization, linear algebra and information retrieval to adaptive routing.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PO2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Problem analysis: Examined O(N) scanning, context growth and privacy risks; defined routing criteria.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PO3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Solution design: Developed the FAISS funnel, dynamic scoring and evidence fusion.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PO4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Investigation: Evaluated 20 gold queries using Recall@5, MRR, nDCG@5 and latency.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PO5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Modern tools: Used PyTorch, FAISS, Ollama, FastAPI and Git.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PO6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Society: Addressed data sovereignty through local inference without external egress.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 — Medium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5" name="TextBox 14"/>
          <p:cNvSpPr>
            <a:spLocks noGrp="1"/>
          </p:cNvSpPr>
          <p:nvPr/>
        </p:nvSpPr>
        <p:spPr>
          <a:xfrm>
            <a:off x="158496" y="1534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 Learnt (PO1 – PO6)</a:t>
            </a:r>
            <a:endParaRPr sz="2400" b="1" i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 Learnt (PO7 – PO12)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0" name="Table 3"/>
          <p:cNvGraphicFramePr/>
          <p:nvPr/>
        </p:nvGraphicFramePr>
        <p:xfrm>
          <a:off x="548640" y="128016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0"/>
                <a:gridCol w="1737360"/>
              </a:tblGrid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 No.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What I learnt in AMORA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Mapping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PO7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Sustainability: Reduced unnecessary retrieval and inference through gating and token compaction.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PO8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Ethics: Protected enterprise data by avoiding third-party cloud APIs.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PO9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Individual and team work: Coordinated work across retrieval, database drivers and UI components.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 — Medium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PO10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Communication: Prepared an IEEE-format article, technical whitepaper and presentation.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PO11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Management and finance: Compared operating costs of $12.40/month local vs $546.90/month cloud.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 — Medium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PO12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Lifelong learning: Studied agentic AI, tool-use reasoning, quantization and vector indexing.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>
            <a:spLocks noGrp="1"/>
          </p:cNvSpPr>
          <p:nvPr/>
        </p:nvSpPr>
        <p:spPr>
          <a:xfrm>
            <a:off x="158496" y="6488668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PSOs Learnt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1" name="Table 3"/>
          <p:cNvGraphicFramePr/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0"/>
                <a:gridCol w="1737360"/>
              </a:tblGrid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PSO No.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AMORA contribution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Mapping</a:t>
                      </a:r>
                      <a:endParaRPr sz="135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PSO1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Core domain proficiency: Used high-dimensional embeddings and algorithmic efficiency for source routing.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PSO2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System design and AI/ML: Built a pipeline combining vector search, dynamic scoring and generative NLP.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PSO3</a:t>
                      </a:r>
                      <a:endParaRPr sz="17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Software tools and real-time engineering: Applied FastAPI, local Ollama and Flutter integration.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 — High</a:t>
                      </a:r>
                      <a:endParaRPr sz="17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>
            <a:spLocks noGrp="1"/>
          </p:cNvSpPr>
          <p:nvPr/>
        </p:nvSpPr>
        <p:spPr>
          <a:xfrm>
            <a:off x="158496" y="6304002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16914"/>
            <a:ext cx="110642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Sustainable Development Goals (SDGs)</a:t>
            </a:r>
            <a:endParaRPr sz="3600" b="1" i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 i="1">
                <a:solidFill>
                  <a:srgbClr val="76767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project aligns with the United Nations Sustainable Development Goals:</a:t>
            </a:r>
            <a:endParaRPr sz="1800" b="0" i="1">
              <a:solidFill>
                <a:srgbClr val="76767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7724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CC30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SDG</a:t>
            </a:r>
            <a:endParaRPr sz="14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</a:pPr>
            <a:r>
              <a:rPr sz="30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</a:t>
            </a:r>
            <a:endParaRPr sz="30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2057400" y="1874520"/>
            <a:ext cx="3749039" cy="67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Industry, Innovation and Infrastructure</a:t>
            </a:r>
            <a:endParaRPr sz="1900" b="1" i="0">
              <a:solidFill>
                <a:srgbClr val="1F497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2057400" y="2606040"/>
            <a:ext cx="37490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On-premises enterprise AI supports resilient digital infrastructure and local access to retrieval tools.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44652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D692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SDG</a:t>
            </a:r>
            <a:endParaRPr sz="14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</a:t>
            </a:r>
            <a:endParaRPr sz="30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7726679" y="1874520"/>
            <a:ext cx="3749039" cy="67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Peace, Justice and Strong Institutions</a:t>
            </a:r>
            <a:endParaRPr sz="1900" b="1" i="0">
              <a:solidFill>
                <a:srgbClr val="1F497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7726679" y="2606040"/>
            <a:ext cx="37490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inference keeps sensitive institutional, financial and healthcare records within enterprise systems.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77724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BF8B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sz="1400" b="1" i="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SDG</a:t>
            </a:r>
            <a:endParaRPr sz="1400" b="1" i="0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</a:pPr>
            <a:r>
              <a:rPr sz="3000" b="1" i="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lang="en-IN" sz="3000" b="1" i="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3000" b="1" i="0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2057400" y="4206240"/>
            <a:ext cx="3749039" cy="67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Responsible Consumption and Production</a:t>
            </a:r>
            <a:endParaRPr sz="1900" b="1" i="0">
              <a:solidFill>
                <a:srgbClr val="1F497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2057400" y="4937760"/>
            <a:ext cx="3749039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IE-KRT bypasses retrieval on 35% of queries; evidence fusion reduces prompt tokens by 26.7%.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621792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44652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3F7E4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SDG</a:t>
            </a:r>
            <a:endParaRPr sz="14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sz="30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7726679" y="4206240"/>
            <a:ext cx="3749039" cy="67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1" i="0" dirty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Decent Work and Economic Growth</a:t>
            </a:r>
            <a:endParaRPr sz="1900" b="1" i="0" dirty="0">
              <a:solidFill>
                <a:srgbClr val="1F497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7726679" y="4937760"/>
            <a:ext cx="37490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deployment supports SME access to enterprise retrieval at over 97% lower operating cost.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48640" y="6356420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>
            <a:spLocks noGrp="1"/>
          </p:cNvSpPr>
          <p:nvPr/>
        </p:nvSpPr>
        <p:spPr>
          <a:xfrm>
            <a:off x="1365504" y="1945505"/>
            <a:ext cx="868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243840" y="370070"/>
            <a:ext cx="609600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 outcome:</a:t>
            </a:r>
            <a:endParaRPr sz="4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Added content"/>
          <p:cNvSpPr>
            <a:spLocks noGrp="1"/>
          </p:cNvSpPr>
          <p:nvPr/>
        </p:nvSpPr>
        <p:spPr>
          <a:xfrm>
            <a:off x="1015746" y="1762125"/>
            <a:ext cx="9810750" cy="442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lvl1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article: “AMO</a:t>
            </a:r>
            <a:r>
              <a:rPr lang="en-US"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 Adaptive </a:t>
            </a:r>
            <a:r>
              <a:rPr lang="en-US"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Framework for external source selection and </a:t>
            </a: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Tool</a:t>
            </a:r>
            <a:r>
              <a:rPr lang="en-US"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s-source</a:t>
            </a: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Coordination</a:t>
            </a:r>
            <a:r>
              <a:rPr lang="en-US"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using LLM based agents</a:t>
            </a: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”</a:t>
            </a:r>
            <a:endParaRPr sz="20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20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Journal target: </a:t>
            </a:r>
            <a:r>
              <a:rPr lang="en-US"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yet to select</a:t>
            </a:r>
            <a:endParaRPr sz="20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Conference target: </a:t>
            </a:r>
            <a:r>
              <a:rPr lang="en-US"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yet to submit</a:t>
            </a:r>
            <a:endParaRPr sz="20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20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Software artifact: AMOF framework with </a:t>
            </a:r>
            <a:r>
              <a:rPr sz="2000" b="0" i="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FastAPI</a:t>
            </a: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backend, </a:t>
            </a:r>
            <a:r>
              <a:rPr sz="2000" b="0" i="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Ollama</a:t>
            </a:r>
            <a:r>
              <a:rPr sz="20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integration, FAISS router and Flutter client</a:t>
            </a:r>
            <a:r>
              <a:rPr sz="1500" b="0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sz="1500" b="0" i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4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Conclusion</a:t>
            </a:r>
            <a:endParaRPr sz="4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21</a:t>
            </a:r>
            <a:endParaRPr sz="12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621536" y="1457621"/>
            <a:ext cx="81320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 completion: 85%</a:t>
            </a:r>
            <a:endParaRPr sz="2000" b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20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Completed work</a:t>
            </a:r>
            <a:endParaRPr sz="2000" b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IE-KRT and six-objective scoring; FAISS funnel tested to 10,000 sources; evidence deduplication and numeric conflict checks; benchmark across 20 queries and six baselines; local </a:t>
            </a:r>
            <a:r>
              <a:rPr sz="2000" b="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Ollama</a:t>
            </a:r>
            <a:r>
              <a:rPr sz="2000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/Qwen integration; technical whitepaper and IEEE manuscript draft.</a:t>
            </a:r>
            <a:endParaRPr sz="20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sz="20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Pending for Review 3</a:t>
            </a:r>
            <a:endParaRPr sz="20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PostgreSQL multi-node integration; Flutter UI and analytics dashboard polish; journal submission.</a:t>
            </a:r>
            <a:endParaRPr sz="2000" b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201168"/>
            <a:ext cx="460372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4000" b="1" dirty="0">
                <a:solidFill>
                  <a:srgbClr val="000000"/>
                </a:solidFill>
                <a:latin typeface="Times New Roman" panose="02020603050405020304"/>
              </a:rPr>
              <a:t>REFERENCES</a:t>
            </a:r>
            <a:endParaRPr lang="en-IN" sz="40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642823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Times New Roman" panose="02020603050405020304"/>
              </a:rPr>
              <a:t>23 / 24</a:t>
            </a:r>
            <a:endParaRPr sz="1100" b="0">
              <a:solidFill>
                <a:srgbClr val="5A5A5A"/>
              </a:solidFill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09054"/>
            <a:ext cx="10789920" cy="5847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[1] M. Zhou and J. Tang, “INKER: Adaptive Dynamic Retrieval-Augmented Generation with Internal-External Knowledge Integration,” Information Processing &amp; Management, Elsevier.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  <a:hlinkClick r:id="rId1"/>
              </a:rPr>
              <a:t>https://doi.org/10.1016/j.ipm.2025.104534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
[2] J. Zhang and X. Liu, “</a:t>
            </a:r>
            <a:r>
              <a:rPr sz="1700" b="0" dirty="0" err="1">
                <a:solidFill>
                  <a:srgbClr val="000000"/>
                </a:solidFill>
                <a:latin typeface="Times New Roman" panose="02020603050405020304"/>
              </a:rPr>
              <a:t>RAGRouter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: Learning to Route Queries to Multiple Retrieval-Augmented Language Models,”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  <a:hlinkClick r:id="rId2"/>
              </a:rPr>
              <a:t>https://doi.org/10.48550/2602.00296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
[3] J. Liu and Q. Yu, “</a:t>
            </a:r>
            <a:r>
              <a:rPr sz="1700" b="0" dirty="0" err="1">
                <a:solidFill>
                  <a:srgbClr val="000000"/>
                </a:solidFill>
                <a:latin typeface="Times New Roman" panose="02020603050405020304"/>
              </a:rPr>
              <a:t>RealRoute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: Dynamic Query Routing System via Retrieve-then-Verify Paradigm,”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  <a:hlinkClick r:id="rId3"/>
              </a:rPr>
              <a:t>https://doi.org/10.48550/2604.20860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
[4] J. Kami and I. </a:t>
            </a:r>
            <a:r>
              <a:rPr sz="1700" b="0" dirty="0" err="1">
                <a:solidFill>
                  <a:srgbClr val="000000"/>
                </a:solidFill>
                <a:latin typeface="Times New Roman" panose="02020603050405020304"/>
              </a:rPr>
              <a:t>Galyukshev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, “Too Many Tools, Too Much Confusion? Navigating Agentic Tool Selection at Scale,”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  <a:hlinkClick r:id="rId4"/>
              </a:rPr>
              <a:t>https://doi.org/10.3390/a19060447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
[5] </a:t>
            </a:r>
            <a:r>
              <a:rPr sz="1700" b="0" dirty="0" err="1">
                <a:solidFill>
                  <a:srgbClr val="000000"/>
                </a:solidFill>
                <a:latin typeface="Times New Roman" panose="02020603050405020304"/>
              </a:rPr>
              <a:t>Jiabin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 Tang, Tianyu Fan, “</a:t>
            </a:r>
            <a:r>
              <a:rPr sz="1700" b="0" dirty="0" err="1">
                <a:solidFill>
                  <a:srgbClr val="000000"/>
                </a:solidFill>
                <a:latin typeface="Times New Roman" panose="02020603050405020304"/>
              </a:rPr>
              <a:t>AutoAgent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</a:rPr>
              <a:t>: A Fully-Automated and Zero-Code Framework for LLM Agents,” </a:t>
            </a:r>
            <a:r>
              <a:rPr sz="1700" b="0" dirty="0">
                <a:solidFill>
                  <a:srgbClr val="000000"/>
                </a:solidFill>
                <a:latin typeface="Times New Roman" panose="02020603050405020304"/>
                <a:hlinkClick r:id="rId5"/>
              </a:rPr>
              <a:t>https://doi.org/10.48550/2502.05957</a:t>
            </a:r>
            <a:endParaRPr lang="en-IN" sz="17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 algn="l"/>
            <a:endParaRPr lang="en-IN" sz="170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defRPr sz="112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[6] Asai, Akari, </a:t>
            </a:r>
            <a:r>
              <a:rPr lang="en-IN" sz="17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Zeqiu</a:t>
            </a: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Wu, </a:t>
            </a:r>
            <a:r>
              <a:rPr lang="en-IN" sz="17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Yizhong</a:t>
            </a: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Wang, Avirup Sil, and Hannaneh </a:t>
            </a:r>
            <a:r>
              <a:rPr lang="en-IN" sz="17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Hajishirzi</a:t>
            </a: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 “Self-RAG: Learning to Retrieve, Generate, and Critique through Self-Reflection.” In Proceedings of the International Conference on Learning Representations (ICLR), 2024.</a:t>
            </a:r>
            <a:endParaRPr lang="en-IN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defRPr sz="112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lang="en-IN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defRPr sz="112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[7] Chen, </a:t>
            </a:r>
            <a:r>
              <a:rPr lang="en-IN" sz="17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Lingjiao</a:t>
            </a: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Matei Zaharia, and James Zou. “</a:t>
            </a:r>
            <a:r>
              <a:rPr lang="en-IN" sz="17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FrugalGPT</a:t>
            </a: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 How to Use Large Language Models While Reducing Cost and Improving Performance.” In Advances in Neural Information Processing Systems (</a:t>
            </a:r>
            <a:r>
              <a:rPr lang="en-IN" sz="17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NeurIPS</a:t>
            </a:r>
            <a:r>
              <a:rPr lang="en-IN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), vol. 36, 2023.</a:t>
            </a:r>
            <a:endParaRPr lang="en-IN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/>
            <a:endParaRPr sz="1700" b="0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1*216"/>
  <p:tag name="TABLE_ENDDRAG_RECT" val="43*263*851*21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13891</Words>
  <Application>WPS Presentation</Application>
  <PresentationFormat>Widescreen</PresentationFormat>
  <Paragraphs>724</Paragraphs>
  <Slides>25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Arial</vt:lpstr>
      <vt:lpstr>SimSun</vt:lpstr>
      <vt:lpstr>Wingdings</vt:lpstr>
      <vt:lpstr>Arial</vt:lpstr>
      <vt:lpstr>Times</vt:lpstr>
      <vt:lpstr>Sitka Heading</vt:lpstr>
      <vt:lpstr>Times New Roman</vt:lpstr>
      <vt:lpstr>Microsoft JhengHei UI</vt:lpstr>
      <vt:lpstr>Arial Black</vt:lpstr>
      <vt:lpstr>Times New Roman</vt:lpstr>
      <vt:lpstr>Gill Sans MT</vt:lpstr>
      <vt:lpstr>Arial Rounded MT Bold</vt:lpstr>
      <vt:lpstr>Microsoft YaHei</vt:lpstr>
      <vt:lpstr>Arial Unicode MS</vt:lpstr>
      <vt:lpstr>Calibri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Proposed Method(Block Diagram)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ARUL RAJ HARESH</cp:lastModifiedBy>
  <cp:revision>7</cp:revision>
  <dcterms:created xsi:type="dcterms:W3CDTF">2026-10-18T12:27:00Z</dcterms:created>
  <dcterms:modified xsi:type="dcterms:W3CDTF">2026-10-25T17:53:02Z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F05E3E7ADA19418BBBDD3DD34468D60E_12</vt:lpwstr>
  </property>
</Properties>
</file>
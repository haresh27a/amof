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1704320" cy="105333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90195"/>
            <a:ext cx="10680192" cy="453542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200" b="0">
                <a:solidFill>
                  <a:schemeClr val="tx1"/>
                </a:solidFill>
                <a:latin typeface="Calibri" panose="020F0502020204030204"/>
              </a:rPr>
              <a:t>Query:  What is the current stock of SKU-1042 in the Chennai warehouse, and does it match the Q3 inventory report?</a:t>
            </a:r>
            <a:endParaRPr sz="1200" b="0">
              <a:solidFill>
                <a:schemeClr val="tx1"/>
              </a:solidFill>
              <a:latin typeface="Calibri" panose="020F0502020204030204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146304" y="877823"/>
            <a:ext cx="11411712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353312" y="987552"/>
            <a:ext cx="716889" cy="292608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27432" rIns="54864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Calibri" panose="020F0502020204030204"/>
              </a:rPr>
              <a:t>IE-KRT</a:t>
            </a:r>
            <a:endParaRPr sz="1400" b="1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682495" y="1298448"/>
            <a:ext cx="2121408" cy="76809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Calibri" panose="020F0502020204030204"/>
              </a:rPr>
              <a:t>Evaluator</a:t>
            </a:r>
            <a:endParaRPr sz="12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Complexity  E = 0.72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Sensitivity  Sᵢ = 0.76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682495" y="2212847"/>
            <a:ext cx="2121408" cy="621792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Calibri" panose="020F0502020204030204"/>
              </a:rPr>
              <a:t>LLM Self-Assessment</a:t>
            </a:r>
            <a:endParaRPr sz="12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Confidence  mᵢ = 0.18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0" y="1755648"/>
            <a:ext cx="2560320" cy="73152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Calibri" panose="020F0502020204030204"/>
              </a:rPr>
              <a:t>Activation Score</a:t>
            </a:r>
            <a:endParaRPr sz="12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K(tᵢ) = (E − mᵢ) · Sᵢ = 0.41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558784" y="1755648"/>
            <a:ext cx="2487168" cy="73152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Calibri" panose="020F0502020204030204"/>
              </a:rPr>
              <a:t>Parametric Response</a:t>
            </a:r>
            <a:endParaRPr sz="12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Direct LLM answer, 0 ms retrieval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(35.0% of queries bypassed)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</p:txBody>
      </p:sp>
      <p:cxnSp>
        <p:nvCxnSpPr>
          <p:cNvPr id="9" name="Connector 8"/>
          <p:cNvCxnSpPr>
            <a:stCxn id="5" idx="3"/>
            <a:endCxn id="7" idx="1"/>
          </p:cNvCxnSpPr>
          <p:nvPr/>
        </p:nvCxnSpPr>
        <p:spPr>
          <a:xfrm>
            <a:off x="3803903" y="1682496"/>
            <a:ext cx="768097" cy="438912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6" idx="3"/>
            <a:endCxn id="7" idx="1"/>
          </p:cNvCxnSpPr>
          <p:nvPr/>
        </p:nvCxnSpPr>
        <p:spPr>
          <a:xfrm flipV="1">
            <a:off x="3803903" y="2121408"/>
            <a:ext cx="768097" cy="402335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7" idx="3"/>
            <a:endCxn id="8" idx="1"/>
          </p:cNvCxnSpPr>
          <p:nvPr/>
        </p:nvCxnSpPr>
        <p:spPr>
          <a:xfrm flipV="1">
            <a:off x="7132320" y="2121408"/>
            <a:ext cx="1426464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90918" y="1667865"/>
            <a:ext cx="1901952" cy="438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tx1"/>
                </a:solidFill>
                <a:latin typeface="Calibri" panose="020F0502020204030204"/>
              </a:rPr>
              <a:t>K &lt; θ</a:t>
            </a:r>
            <a:endParaRPr sz="1000" b="1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90918" y="2136038"/>
            <a:ext cx="1901952" cy="438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chemeClr val="tx1"/>
                </a:solidFill>
                <a:latin typeface="Calibri" panose="020F0502020204030204"/>
              </a:rPr>
              <a:t>No Need Retrieval</a:t>
            </a:r>
            <a:endParaRPr sz="900" b="1">
              <a:solidFill>
                <a:schemeClr val="tx1"/>
              </a:solidFill>
              <a:latin typeface="Calibri" panose="020F050202020403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46304" y="2999232"/>
            <a:ext cx="11411712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353312" y="3072384"/>
            <a:ext cx="716889" cy="292608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27432" rIns="54864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Calibri" panose="020F0502020204030204"/>
              </a:rPr>
              <a:t>IE-KQF</a:t>
            </a:r>
            <a:endParaRPr sz="1400" b="1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682496" y="3621023"/>
            <a:ext cx="2414016" cy="95097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Calibri" panose="020F0502020204030204"/>
              </a:rPr>
              <a:t>Internal Phrases (LLM)</a:t>
            </a:r>
            <a:endParaRPr sz="12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SKU-1042, Chennai warehouse,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Q3 inventory report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45152" y="3621023"/>
            <a:ext cx="2414016" cy="95097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Calibri" panose="020F0502020204030204"/>
              </a:rPr>
              <a:t>Intent Tokens</a:t>
            </a:r>
            <a:endParaRPr sz="12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live stock lookup +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cross-source verification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19872" y="3621023"/>
            <a:ext cx="2926080" cy="95097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Calibri" panose="020F0502020204030204"/>
              </a:rPr>
              <a:t>Reformulated Query q⁺</a:t>
            </a:r>
            <a:endParaRPr sz="12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current stock SKU-1042 Chennai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warehouse | compare Q3 inventory report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</p:txBody>
      </p:sp>
      <p:cxnSp>
        <p:nvCxnSpPr>
          <p:cNvPr id="19" name="Connector 18"/>
          <p:cNvCxnSpPr>
            <a:stCxn id="7" idx="2"/>
            <a:endCxn id="17" idx="0"/>
          </p:cNvCxnSpPr>
          <p:nvPr/>
        </p:nvCxnSpPr>
        <p:spPr>
          <a:xfrm flipH="1">
            <a:off x="5852160" y="2487168"/>
            <a:ext cx="0" cy="1133855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71616" y="3108960"/>
            <a:ext cx="1609344" cy="438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chemeClr val="tx1"/>
                </a:solidFill>
                <a:latin typeface="Calibri" panose="020F0502020204030204"/>
              </a:rPr>
              <a:t>K ≥ θ = 0.25</a:t>
            </a:r>
            <a:endParaRPr sz="95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950" b="1">
                <a:solidFill>
                  <a:schemeClr val="tx1"/>
                </a:solidFill>
                <a:latin typeface="Calibri" panose="020F0502020204030204"/>
              </a:rPr>
              <a:t>Need Retrieval</a:t>
            </a:r>
            <a:endParaRPr sz="950" b="1">
              <a:solidFill>
                <a:schemeClr val="tx1"/>
              </a:solidFill>
              <a:latin typeface="Calibri" panose="020F0502020204030204"/>
            </a:endParaRPr>
          </a:p>
        </p:txBody>
      </p:sp>
      <p:cxnSp>
        <p:nvCxnSpPr>
          <p:cNvPr id="21" name="Connector 20"/>
          <p:cNvCxnSpPr>
            <a:stCxn id="16" idx="3"/>
            <a:endCxn id="17" idx="1"/>
          </p:cNvCxnSpPr>
          <p:nvPr/>
        </p:nvCxnSpPr>
        <p:spPr>
          <a:xfrm flipV="1">
            <a:off x="4096512" y="4096511"/>
            <a:ext cx="548640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7" idx="3"/>
            <a:endCxn id="18" idx="1"/>
          </p:cNvCxnSpPr>
          <p:nvPr/>
        </p:nvCxnSpPr>
        <p:spPr>
          <a:xfrm flipV="1">
            <a:off x="7059168" y="4096511"/>
            <a:ext cx="1060704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42201" y="3657600"/>
            <a:ext cx="1901952" cy="438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chemeClr val="tx1"/>
                </a:solidFill>
                <a:latin typeface="Calibri" panose="020F0502020204030204"/>
              </a:rPr>
              <a:t>concat</a:t>
            </a:r>
            <a:endParaRPr sz="900" b="1">
              <a:solidFill>
                <a:schemeClr val="tx1"/>
              </a:solidFill>
              <a:latin typeface="Calibri" panose="020F0502020204030204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1243584" y="643737"/>
            <a:ext cx="0" cy="3452774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3584" y="1682496"/>
            <a:ext cx="438911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3584" y="2523744"/>
            <a:ext cx="438911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43584" y="4096511"/>
            <a:ext cx="438911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46304" y="5047488"/>
            <a:ext cx="11411712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353312" y="5120640"/>
            <a:ext cx="1572768" cy="292608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27432" rIns="54864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Calibri" panose="020F0502020204030204"/>
              </a:rPr>
              <a:t>AMORA Routing</a:t>
            </a:r>
            <a:endParaRPr sz="1400" b="1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119872" y="5669280"/>
            <a:ext cx="2926080" cy="95097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Calibri" panose="020F0502020204030204"/>
              </a:rPr>
              <a:t>Two-Stage FAISS Funnel</a:t>
            </a:r>
            <a:endParaRPr sz="12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N = 10,000 → M = 55 candidates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3.26 ms  |  SRR = 99.45%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645152" y="5669280"/>
            <a:ext cx="2414016" cy="95097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Calibri" panose="020F0502020204030204"/>
              </a:rPr>
              <a:t>6-D Multi-Objective Scoring</a:t>
            </a:r>
            <a:endParaRPr sz="12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R, L, F, C, H, K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Σⱼ Wⱼ = 1 (Pareto-optimal)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682496" y="5669280"/>
            <a:ext cx="2414016" cy="95097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Calibri" panose="020F0502020204030204"/>
              </a:rPr>
              <a:t>Top-K Selected Tools</a:t>
            </a:r>
            <a:endParaRPr sz="12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inventory_db (SQL)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stock_api (REST), q3_report (DOC)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</p:txBody>
      </p:sp>
      <p:cxnSp>
        <p:nvCxnSpPr>
          <p:cNvPr id="33" name="Connector 32"/>
          <p:cNvCxnSpPr>
            <a:stCxn id="18" idx="2"/>
            <a:endCxn id="30" idx="0"/>
          </p:cNvCxnSpPr>
          <p:nvPr/>
        </p:nvCxnSpPr>
        <p:spPr>
          <a:xfrm flipH="1">
            <a:off x="9582912" y="4571999"/>
            <a:ext cx="0" cy="1097281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619488" y="4901184"/>
            <a:ext cx="1024127" cy="438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chemeClr val="tx1"/>
                </a:solidFill>
                <a:latin typeface="Calibri" panose="020F0502020204030204"/>
              </a:rPr>
              <a:t>Retrieval</a:t>
            </a:r>
            <a:endParaRPr sz="900" b="1">
              <a:solidFill>
                <a:schemeClr val="tx1"/>
              </a:solidFill>
              <a:latin typeface="Calibri" panose="020F0502020204030204"/>
            </a:endParaRPr>
          </a:p>
        </p:txBody>
      </p:sp>
      <p:cxnSp>
        <p:nvCxnSpPr>
          <p:cNvPr id="35" name="Connector 34"/>
          <p:cNvCxnSpPr>
            <a:stCxn id="30" idx="1"/>
            <a:endCxn id="31" idx="3"/>
          </p:cNvCxnSpPr>
          <p:nvPr/>
        </p:nvCxnSpPr>
        <p:spPr>
          <a:xfrm flipH="1" flipV="1">
            <a:off x="7059168" y="6144768"/>
            <a:ext cx="1060704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31" idx="1"/>
            <a:endCxn id="32" idx="3"/>
          </p:cNvCxnSpPr>
          <p:nvPr/>
        </p:nvCxnSpPr>
        <p:spPr>
          <a:xfrm flipH="1" flipV="1">
            <a:off x="4096512" y="6144768"/>
            <a:ext cx="548640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6304" y="7022592"/>
            <a:ext cx="11411712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353312" y="7095744"/>
            <a:ext cx="1408176" cy="292608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27432" rIns="54864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Calibri" panose="020F0502020204030204"/>
              </a:rPr>
              <a:t>Evidence Fusion</a:t>
            </a:r>
            <a:endParaRPr sz="1400" b="1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682496" y="7644383"/>
            <a:ext cx="2414016" cy="95097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chemeClr val="tx1"/>
                </a:solidFill>
                <a:latin typeface="Calibri" panose="020F0502020204030204"/>
              </a:rPr>
              <a:t>Tool Outputs</a:t>
            </a:r>
            <a:endParaRPr sz="11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chemeClr val="tx1"/>
                </a:solidFill>
                <a:latin typeface="Calibri" panose="020F0502020204030204"/>
              </a:rPr>
              <a:t>SQL: 150 units (2 h ago)</a:t>
            </a:r>
            <a:endParaRPr sz="10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chemeClr val="tx1"/>
                </a:solidFill>
                <a:latin typeface="Calibri" panose="020F0502020204030204"/>
              </a:rPr>
              <a:t>REST: 150 units (live)</a:t>
            </a:r>
            <a:endParaRPr sz="10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chemeClr val="tx1"/>
                </a:solidFill>
                <a:latin typeface="Calibri" panose="020F0502020204030204"/>
              </a:rPr>
              <a:t>DOC: 90 units (Q3 snapshot)</a:t>
            </a:r>
            <a:endParaRPr sz="1000" b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645152" y="7644383"/>
            <a:ext cx="2414016" cy="95097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chemeClr val="tx1"/>
                </a:solidFill>
                <a:latin typeface="Calibri" panose="020F0502020204030204"/>
              </a:rPr>
              <a:t>Fusion Engine</a:t>
            </a:r>
            <a:endParaRPr sz="11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chemeClr val="tx1"/>
                </a:solidFill>
                <a:latin typeface="Calibri" panose="020F0502020204030204"/>
              </a:rPr>
              <a:t>Hash-window dedup: 3 → 2 facts</a:t>
            </a:r>
            <a:endParaRPr sz="10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chemeClr val="tx1"/>
                </a:solidFill>
                <a:latin typeface="Calibri" panose="020F0502020204030204"/>
              </a:rPr>
              <a:t>O(E²) conflict graph: 150 vs 90</a:t>
            </a:r>
            <a:endParaRPr sz="10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chemeClr val="tx1"/>
                </a:solidFill>
                <a:latin typeface="Calibri" panose="020F0502020204030204"/>
              </a:rPr>
              <a:t>Prompt tokens −26.7%</a:t>
            </a:r>
            <a:endParaRPr sz="1000" b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119872" y="7644383"/>
            <a:ext cx="2926080" cy="95097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chemeClr val="tx1"/>
                </a:solidFill>
                <a:latin typeface="Calibri" panose="020F0502020204030204"/>
              </a:rPr>
              <a:t>Fused Evidence Context</a:t>
            </a:r>
            <a:endParaRPr sz="11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chemeClr val="tx1"/>
                </a:solidFill>
                <a:latin typeface="Calibri" panose="020F0502020204030204"/>
              </a:rPr>
              <a:t>[FACT] stock = 150 (fresh, reliable)</a:t>
            </a:r>
            <a:endParaRPr sz="10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chemeClr val="tx1"/>
                </a:solidFill>
                <a:latin typeface="Calibri" panose="020F0502020204030204"/>
              </a:rPr>
              <a:t>[CONFLICT] Q3 report = 90 (stale)</a:t>
            </a:r>
            <a:endParaRPr sz="10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chemeClr val="tx1"/>
                </a:solidFill>
                <a:latin typeface="Calibri" panose="020F0502020204030204"/>
              </a:rPr>
              <a:t>provenance tags attached</a:t>
            </a:r>
            <a:endParaRPr sz="1000" b="0">
              <a:solidFill>
                <a:schemeClr val="tx1"/>
              </a:solidFill>
              <a:latin typeface="Calibri" panose="020F0502020204030204"/>
            </a:endParaRPr>
          </a:p>
        </p:txBody>
      </p:sp>
      <p:cxnSp>
        <p:nvCxnSpPr>
          <p:cNvPr id="42" name="Connector 41"/>
          <p:cNvCxnSpPr>
            <a:stCxn id="32" idx="2"/>
            <a:endCxn id="39" idx="0"/>
          </p:cNvCxnSpPr>
          <p:nvPr/>
        </p:nvCxnSpPr>
        <p:spPr>
          <a:xfrm flipH="1">
            <a:off x="2889504" y="6620256"/>
            <a:ext cx="0" cy="1024127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39" idx="3"/>
            <a:endCxn id="40" idx="1"/>
          </p:cNvCxnSpPr>
          <p:nvPr/>
        </p:nvCxnSpPr>
        <p:spPr>
          <a:xfrm flipV="1">
            <a:off x="4096512" y="8119871"/>
            <a:ext cx="548640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40" idx="3"/>
            <a:endCxn id="41" idx="1"/>
          </p:cNvCxnSpPr>
          <p:nvPr/>
        </p:nvCxnSpPr>
        <p:spPr>
          <a:xfrm flipV="1">
            <a:off x="7059168" y="8119871"/>
            <a:ext cx="1060704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6304" y="8887968"/>
            <a:ext cx="11411712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485632" y="9418320"/>
            <a:ext cx="2194560" cy="76809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chemeClr val="tx1"/>
                </a:solidFill>
                <a:latin typeface="Calibri" panose="020F0502020204030204"/>
              </a:rPr>
              <a:t>Local LLM</a:t>
            </a:r>
            <a:endParaRPr sz="12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Qwen 2.5 7B (Q4_K_M)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100" b="0">
                <a:solidFill>
                  <a:schemeClr val="tx1"/>
                </a:solidFill>
                <a:latin typeface="Calibri" panose="020F0502020204030204"/>
              </a:rPr>
              <a:t>zero data egress</a:t>
            </a:r>
            <a:endParaRPr sz="1100" b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755648" y="9418320"/>
            <a:ext cx="5632704" cy="76809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000" b="0">
                <a:solidFill>
                  <a:schemeClr val="tx1"/>
                </a:solidFill>
                <a:latin typeface="Calibri" panose="020F0502020204030204"/>
              </a:rPr>
              <a:t>SKU-1042 currently has 150 units in the Chennai warehouse [inventory_db, updated 2 h ago].</a:t>
            </a:r>
            <a:endParaRPr sz="1000" b="0">
              <a:solidFill>
                <a:schemeClr val="tx1"/>
              </a:solidFill>
              <a:latin typeface="Calibri" panose="020F0502020204030204"/>
            </a:endParaRPr>
          </a:p>
          <a:p>
            <a:pPr algn="l"/>
            <a:r>
              <a:rPr sz="1000" b="0">
                <a:solidFill>
                  <a:schemeClr val="tx1"/>
                </a:solidFill>
                <a:latin typeface="Calibri" panose="020F0502020204030204"/>
              </a:rPr>
              <a:t>Note: the Q3 report lists 90 units; the gap reflects post-Q3 restocking,</a:t>
            </a:r>
            <a:endParaRPr sz="1000" b="0">
              <a:solidFill>
                <a:schemeClr val="tx1"/>
              </a:solidFill>
              <a:latin typeface="Calibri" panose="020F0502020204030204"/>
            </a:endParaRPr>
          </a:p>
          <a:p>
            <a:pPr algn="l"/>
            <a:r>
              <a:rPr sz="1000" b="0">
                <a:solidFill>
                  <a:schemeClr val="tx1"/>
                </a:solidFill>
                <a:latin typeface="Calibri" panose="020F0502020204030204"/>
              </a:rPr>
              <a:t>so the live ledger value is authoritative.</a:t>
            </a:r>
            <a:endParaRPr sz="1000" b="0">
              <a:solidFill>
                <a:schemeClr val="tx1"/>
              </a:solidFill>
              <a:latin typeface="Calibri" panose="020F0502020204030204"/>
            </a:endParaRPr>
          </a:p>
        </p:txBody>
      </p:sp>
      <p:cxnSp>
        <p:nvCxnSpPr>
          <p:cNvPr id="48" name="Connector 47"/>
          <p:cNvCxnSpPr>
            <a:stCxn id="41" idx="2"/>
            <a:endCxn id="46" idx="0"/>
          </p:cNvCxnSpPr>
          <p:nvPr/>
        </p:nvCxnSpPr>
        <p:spPr>
          <a:xfrm flipH="1">
            <a:off x="9582912" y="8595359"/>
            <a:ext cx="0" cy="822961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46" idx="1"/>
            <a:endCxn id="47" idx="3"/>
          </p:cNvCxnSpPr>
          <p:nvPr/>
        </p:nvCxnSpPr>
        <p:spPr>
          <a:xfrm flipH="1" flipV="1">
            <a:off x="7388352" y="9802368"/>
            <a:ext cx="1097280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011680" y="10131552"/>
            <a:ext cx="5120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8909C"/>
                </a:solidFill>
                <a:latin typeface="Calibri" panose="020F0502020204030204"/>
              </a:rPr>
              <a:t>LLM Continual Generation based on Fused Evidence</a:t>
            </a:r>
            <a:endParaRPr sz="1000" b="1">
              <a:solidFill>
                <a:srgbClr val="78909C"/>
              </a:solidFill>
              <a:latin typeface="Calibri" panose="020F0502020204030204"/>
            </a:endParaRPr>
          </a:p>
        </p:txBody>
      </p:sp>
      <p:cxnSp>
        <p:nvCxnSpPr>
          <p:cNvPr id="51" name="Connector 50"/>
          <p:cNvCxnSpPr/>
          <p:nvPr/>
        </p:nvCxnSpPr>
        <p:spPr>
          <a:xfrm flipH="1">
            <a:off x="512063" y="9802368"/>
            <a:ext cx="1243585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12063" y="1316736"/>
            <a:ext cx="0" cy="8485632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2063" y="1316736"/>
            <a:ext cx="731521" cy="0"/>
          </a:xfrm>
          <a:prstGeom prst="line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 rot="16200000">
            <a:off x="-475488" y="5413248"/>
            <a:ext cx="1463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chemeClr val="tx1"/>
                </a:solidFill>
                <a:latin typeface="Calibri" panose="020F0502020204030204"/>
              </a:rPr>
              <a:t>↻ Iteration</a:t>
            </a:r>
            <a:endParaRPr sz="1200" b="1">
              <a:solidFill>
                <a:schemeClr val="tx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1465</Words>
  <Application>WPS Presentation</Application>
  <PresentationFormat>On-screen Show (4:3)</PresentationFormat>
  <Paragraphs>86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ARUL RAJ HARESH</cp:lastModifiedBy>
  <cp:revision>2</cp:revision>
  <dcterms:created xsi:type="dcterms:W3CDTF">2013-01-27T09:14:00Z</dcterms:created>
  <dcterms:modified xsi:type="dcterms:W3CDTF">2026-10-27T13:41:57Z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D2F0219378574531A3245585A44DE7DF_12</vt:lpwstr>
  </property>
</Properties>
</file>
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86" r:id="rId2"/>
    <p:sldId id="257" r:id="rId3"/>
    <p:sldId id="258" r:id="rId4"/>
    <p:sldId id="261" r:id="rId5"/>
    <p:sldId id="262" r:id="rId6"/>
    <p:sldId id="267" r:id="rId7"/>
    <p:sldId id="268" r:id="rId8"/>
    <p:sldId id="269" r:id="rId9"/>
    <p:sldId id="287" r:id="rId10"/>
    <p:sldId id="271" r:id="rId11"/>
    <p:sldId id="275" r:id="rId12"/>
    <p:sldId id="276" r:id="rId13"/>
    <p:sldId id="289" r:id="rId14"/>
    <p:sldId id="290" r:id="rId15"/>
    <p:sldId id="291" r:id="rId16"/>
    <p:sldId id="292" r:id="rId17"/>
    <p:sldId id="288" r:id="rId18"/>
    <p:sldId id="277" r:id="rId19"/>
    <p:sldId id="285" r:id="rId2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67" d="100"/>
          <a:sy n="67" d="100"/>
        </p:scale>
        <p:origin x="834" y="7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 txBox="1"/>
          <p:nvPr/>
        </p:nvSpPr>
        <p:spPr>
          <a:xfrm>
            <a:off x="1433052" y="2244213"/>
            <a:ext cx="9500420" cy="1104900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975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en-US" sz="2500" b="1" dirty="0">
              <a:solidFill>
                <a:srgbClr val="0070C0"/>
              </a:solidFill>
              <a:latin typeface="Times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object 19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503169" y="223390"/>
            <a:ext cx="7178041" cy="1747901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337621" y="1951625"/>
            <a:ext cx="7467600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3000" b="1" dirty="0">
                <a:highlight>
                  <a:srgbClr val="FFFF00"/>
                </a:highlight>
                <a:latin typeface="Sitka Heading" pitchFamily="2" charset="0"/>
                <a:cs typeface="Times New Roman" panose="02020603050405020304" pitchFamily="18" charset="0"/>
              </a:rPr>
              <a:t>DEPARTMENT OF ELECTRONICS AND COMMUNICATION ENGINEERING</a:t>
            </a:r>
            <a:endParaRPr lang="en-GB" sz="3000" b="1" dirty="0">
              <a:highlight>
                <a:srgbClr val="FFFF00"/>
              </a:highlight>
              <a:latin typeface="Sitka Heading" pitchFamily="2" charset="0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420762" y="4869426"/>
            <a:ext cx="3505200" cy="9961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1200"/>
              </a:spcAft>
            </a:pPr>
            <a:r>
              <a:rPr lang="en-IN" sz="2000" b="1" u="sng" dirty="0">
                <a:solidFill>
                  <a:srgbClr val="0070C0"/>
                </a:solidFill>
                <a:latin typeface="Times" panose="02020603050405020304" pitchFamily="18" charset="0"/>
              </a:rPr>
              <a:t>PRESENTED BY : </a:t>
            </a:r>
          </a:p>
          <a:p>
            <a:pPr marL="12700" marR="5080" algn="ctr">
              <a:lnSpc>
                <a:spcPct val="75000"/>
              </a:lnSpc>
              <a:spcBef>
                <a:spcPts val="1770"/>
              </a:spcBef>
            </a:pPr>
            <a:endParaRPr lang="en-GB" b="1" spc="-10" dirty="0">
              <a:solidFill>
                <a:srgbClr val="0070C0"/>
              </a:solidFill>
              <a:latin typeface="Microsoft JhengHei UI" panose="020B0604030504040204" pitchFamily="34" charset="-120"/>
              <a:ea typeface="Microsoft JhengHei UI" panose="020B0604030504040204" pitchFamily="34" charset="-120"/>
              <a:cs typeface="Times New Roman" panose="02020603050405020304" pitchFamily="18" charset="0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5250305" y="4975202"/>
            <a:ext cx="458699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spcAft>
                <a:spcPts val="1200"/>
              </a:spcAft>
            </a:pPr>
            <a:endParaRPr lang="en-GB" spc="-10" dirty="0">
              <a:latin typeface="Arial Black" panose="020B0A04020102020204" pitchFamily="34" charset="0"/>
              <a:cs typeface="Times New Roman" panose="02020603050405020304" pitchFamily="18" charset="0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6479459" y="4756842"/>
            <a:ext cx="5183151" cy="10185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3840"/>
              </a:lnSpc>
            </a:pPr>
            <a:r>
              <a:rPr lang="en-IN" sz="2000" b="1" u="sng" dirty="0">
                <a:solidFill>
                  <a:srgbClr val="0070C0"/>
                </a:solidFill>
                <a:latin typeface="Times" panose="02020603050405020304" pitchFamily="18" charset="0"/>
              </a:rPr>
              <a:t>SUPERVISOR</a:t>
            </a:r>
            <a:r>
              <a:rPr lang="en-IN" sz="2000" b="1" u="sng" dirty="0">
                <a:solidFill>
                  <a:schemeClr val="accent1"/>
                </a:solidFill>
                <a:latin typeface="Times" panose="02020603050405020304" pitchFamily="18" charset="0"/>
              </a:rPr>
              <a:t> </a:t>
            </a:r>
            <a:r>
              <a:rPr lang="en-IN" sz="2000" b="1" u="sng" dirty="0">
                <a:solidFill>
                  <a:srgbClr val="0070C0"/>
                </a:solidFill>
                <a:latin typeface="Times" panose="02020603050405020304" pitchFamily="18" charset="0"/>
              </a:rPr>
              <a:t>:</a:t>
            </a:r>
          </a:p>
          <a:p>
            <a:pPr algn="ctr">
              <a:lnSpc>
                <a:spcPts val="3840"/>
              </a:lnSpc>
            </a:pPr>
            <a:r>
              <a:rPr lang="en-IN" sz="2400" b="1" u="sng" dirty="0">
                <a:solidFill>
                  <a:schemeClr val="accent1"/>
                </a:solidFill>
                <a:latin typeface="Gill Sans MT" panose="020B0502020104020203" pitchFamily="34" charset="0"/>
              </a:rPr>
              <a:t> </a:t>
            </a:r>
            <a:endParaRPr lang="en-GB" sz="2000" b="1" dirty="0">
              <a:latin typeface="Gill Sans MT" panose="020B0502020104020203" pitchFamily="34" charset="0"/>
              <a:ea typeface="Microsoft JhengHei UI" panose="020B0604030504040204" pitchFamily="34" charset="-120"/>
              <a:cs typeface="Times New Roman" panose="02020603050405020304" pitchFamily="18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648929" y="5319254"/>
            <a:ext cx="4931764" cy="10185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3840"/>
              </a:lnSpc>
            </a:pPr>
            <a:r>
              <a:rPr lang="en-IN" altLang="en-US" sz="2400" b="1" dirty="0">
                <a:latin typeface="Times New Roman" panose="02020603050405020304" pitchFamily="18" charset="0"/>
                <a:ea typeface="Microsoft JhengHei UI" panose="020B0604030504040204" pitchFamily="34" charset="-120"/>
                <a:cs typeface="Times New Roman" panose="02020603050405020304" pitchFamily="18" charset="0"/>
              </a:rPr>
              <a:t>Name :</a:t>
            </a:r>
          </a:p>
          <a:p>
            <a:pPr>
              <a:lnSpc>
                <a:spcPts val="3840"/>
              </a:lnSpc>
            </a:pPr>
            <a:r>
              <a:rPr lang="en-IN" sz="2400" b="1" spc="-5" dirty="0" err="1">
                <a:latin typeface="Times New Roman" panose="02020603050405020304" pitchFamily="18" charset="0"/>
                <a:ea typeface="Microsoft JhengHei UI" panose="020B0604030504040204" pitchFamily="34" charset="-120"/>
                <a:cs typeface="Times New Roman" panose="02020603050405020304" pitchFamily="18" charset="0"/>
              </a:rPr>
              <a:t>Reg.No</a:t>
            </a:r>
            <a:r>
              <a:rPr lang="en-IN" sz="2400" b="1" spc="-5" dirty="0">
                <a:latin typeface="Times New Roman" panose="02020603050405020304" pitchFamily="18" charset="0"/>
                <a:ea typeface="Microsoft JhengHei UI" panose="020B0604030504040204" pitchFamily="34" charset="-120"/>
                <a:cs typeface="Times New Roman" panose="02020603050405020304" pitchFamily="18" charset="0"/>
              </a:rPr>
              <a:t> </a:t>
            </a:r>
            <a:r>
              <a:rPr lang="en-US" sz="2400" b="1" spc="-5" dirty="0">
                <a:latin typeface="Times New Roman" panose="02020603050405020304" pitchFamily="18" charset="0"/>
                <a:ea typeface="Microsoft JhengHei UI" panose="020B0604030504040204" pitchFamily="34" charset="-120"/>
                <a:cs typeface="Times New Roman" panose="02020603050405020304" pitchFamily="18" charset="0"/>
              </a:rPr>
              <a:t>(4211231040</a:t>
            </a:r>
            <a:r>
              <a:rPr lang="en-IN" altLang="en-US" sz="2400" b="1" spc="-5" dirty="0">
                <a:latin typeface="Times New Roman" panose="02020603050405020304" pitchFamily="18" charset="0"/>
                <a:ea typeface="Microsoft JhengHei UI" panose="020B0604030504040204" pitchFamily="34" charset="-120"/>
                <a:cs typeface="Times New Roman" panose="02020603050405020304" pitchFamily="18" charset="0"/>
              </a:rPr>
              <a:t>87</a:t>
            </a:r>
            <a:r>
              <a:rPr lang="en-US" b="1" spc="-5" dirty="0">
                <a:latin typeface="Gill Sans MT" panose="020B0502020104020203" pitchFamily="34" charset="0"/>
                <a:ea typeface="Microsoft JhengHei UI" panose="020B0604030504040204" pitchFamily="34" charset="-120"/>
                <a:cs typeface="Times New Roman" panose="02020603050405020304" pitchFamily="18" charset="0"/>
              </a:rPr>
              <a:t>)</a:t>
            </a:r>
            <a:endParaRPr lang="en-GB" b="1" dirty="0">
              <a:latin typeface="Gill Sans MT" panose="020B0502020104020203" pitchFamily="34" charset="0"/>
              <a:ea typeface="Microsoft JhengHei UI" panose="020B0604030504040204" pitchFamily="34" charset="-120"/>
              <a:cs typeface="Times New Roman" panose="02020603050405020304" pitchFamily="18" charset="0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3495368" y="3105950"/>
            <a:ext cx="4931764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SUBJECT CODE : </a:t>
            </a:r>
            <a:r>
              <a:rPr lang="en-US" sz="2000" b="1" dirty="0">
                <a:highlight>
                  <a:srgbClr val="FF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23EC8701</a:t>
            </a:r>
            <a:endParaRPr lang="en-GB" sz="2000" b="1" dirty="0">
              <a:highlight>
                <a:srgbClr val="FFFF00"/>
              </a:highligh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1327354" y="3608700"/>
            <a:ext cx="9931195" cy="4738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2000"/>
              </a:lnSpc>
            </a:pP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PROJECT TITLE:</a:t>
            </a:r>
            <a:endParaRPr lang="en-IN" sz="2000" b="1" dirty="0">
              <a:latin typeface="Arial Rounded MT Bold" panose="020F0704030504030204" pitchFamily="34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328160" y="320040"/>
            <a:ext cx="1106424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lang="en-IN" sz="4000" b="1" dirty="0">
                <a:solidFill>
                  <a:srgbClr val="000000"/>
                </a:solidFill>
                <a:latin typeface="Times New Roman"/>
              </a:rPr>
              <a:t>OUTLINE</a:t>
            </a:r>
            <a:endParaRPr sz="4000" b="1" dirty="0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731520" y="877451"/>
            <a:ext cx="10698480" cy="56938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sz="2800" b="1" dirty="0">
                <a:solidFill>
                  <a:srgbClr val="000000"/>
                </a:solidFill>
                <a:latin typeface="Times New Roman"/>
              </a:rPr>
              <a:t>Recap of Review 1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sz="2800" b="1" dirty="0">
                <a:solidFill>
                  <a:srgbClr val="000000"/>
                </a:solidFill>
                <a:latin typeface="Times New Roman"/>
              </a:rPr>
              <a:t>Review 1 comments and actions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sz="2800" b="1" dirty="0">
                <a:solidFill>
                  <a:srgbClr val="000000"/>
                </a:solidFill>
                <a:latin typeface="Times New Roman"/>
              </a:rPr>
              <a:t>Problem statement and objectives</a:t>
            </a:r>
            <a:endParaRPr lang="en-IN" sz="2800" b="1" dirty="0">
              <a:solidFill>
                <a:srgbClr val="000000"/>
              </a:solidFill>
              <a:latin typeface="Times New Roman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sz="2800" b="1" dirty="0">
                <a:solidFill>
                  <a:srgbClr val="000000"/>
                </a:solidFill>
                <a:latin typeface="Times New Roman"/>
              </a:rPr>
              <a:t>Literature survey and research gap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800" b="1" dirty="0">
                <a:solidFill>
                  <a:srgbClr val="000000"/>
                </a:solidFill>
                <a:latin typeface="Times New Roman"/>
              </a:rPr>
              <a:t>Proposed </a:t>
            </a:r>
            <a:r>
              <a:rPr sz="2800" b="1" dirty="0">
                <a:solidFill>
                  <a:srgbClr val="000000"/>
                </a:solidFill>
                <a:latin typeface="Times New Roman"/>
              </a:rPr>
              <a:t>method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sz="2800" b="1" dirty="0">
                <a:solidFill>
                  <a:srgbClr val="000000"/>
                </a:solidFill>
                <a:latin typeface="Times New Roman"/>
              </a:rPr>
              <a:t>Design</a:t>
            </a:r>
            <a:r>
              <a:rPr lang="en-IN" sz="2800" b="1" dirty="0">
                <a:solidFill>
                  <a:srgbClr val="000000"/>
                </a:solidFill>
                <a:latin typeface="Times New Roman"/>
              </a:rPr>
              <a:t> of the proposed method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800" b="1" dirty="0">
                <a:solidFill>
                  <a:srgbClr val="000000"/>
                </a:solidFill>
                <a:latin typeface="Times New Roman"/>
              </a:rPr>
              <a:t>Simulation Software and Parameters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800" b="1" dirty="0">
                <a:solidFill>
                  <a:srgbClr val="000000"/>
                </a:solidFill>
                <a:latin typeface="Times New Roman"/>
              </a:rPr>
              <a:t>Flow diagram/Algorithm</a:t>
            </a:r>
            <a:endParaRPr sz="2800" b="1" dirty="0">
              <a:solidFill>
                <a:srgbClr val="000000"/>
              </a:solidFill>
              <a:latin typeface="Times New Roman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sz="2800" b="1" dirty="0">
                <a:solidFill>
                  <a:srgbClr val="000000"/>
                </a:solidFill>
                <a:latin typeface="Times New Roman"/>
              </a:rPr>
              <a:t>Simulation</a:t>
            </a:r>
            <a:r>
              <a:rPr lang="en-IN" sz="2800" b="1" dirty="0">
                <a:solidFill>
                  <a:srgbClr val="000000"/>
                </a:solidFill>
                <a:latin typeface="Times New Roman"/>
              </a:rPr>
              <a:t> Software and Parameters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800" b="1" dirty="0">
                <a:solidFill>
                  <a:srgbClr val="000000"/>
                </a:solidFill>
                <a:latin typeface="Times New Roman"/>
              </a:rPr>
              <a:t>Results and Discussion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800" b="1" dirty="0">
                <a:solidFill>
                  <a:srgbClr val="000000"/>
                </a:solidFill>
                <a:latin typeface="Times New Roman"/>
              </a:rPr>
              <a:t>POs mapping and SDGs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800" b="1" dirty="0">
                <a:solidFill>
                  <a:srgbClr val="000000"/>
                </a:solidFill>
                <a:latin typeface="Times New Roman"/>
              </a:rPr>
              <a:t>Project Outcome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800" b="1" dirty="0">
                <a:solidFill>
                  <a:srgbClr val="000000"/>
                </a:solidFill>
                <a:latin typeface="Times New Roman"/>
              </a:rPr>
              <a:t>Conclusion</a:t>
            </a:r>
            <a:endParaRPr sz="2800" b="1" dirty="0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1338560" y="6400800"/>
            <a:ext cx="5486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spcAft>
                <a:spcPts val="600"/>
              </a:spcAft>
            </a:pPr>
            <a:r>
              <a:rPr sz="1200" b="0">
                <a:solidFill>
                  <a:srgbClr val="000000"/>
                </a:solidFill>
                <a:latin typeface="Times New Roman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975104" y="310896"/>
            <a:ext cx="1106424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 dirty="0">
                <a:solidFill>
                  <a:srgbClr val="000000"/>
                </a:solidFill>
                <a:latin typeface="Times New Roman"/>
              </a:rPr>
              <a:t> </a:t>
            </a:r>
            <a:r>
              <a:rPr sz="4000" b="1" dirty="0">
                <a:solidFill>
                  <a:srgbClr val="000000"/>
                </a:solidFill>
                <a:latin typeface="Times New Roman"/>
              </a:rPr>
              <a:t>Recap and Review 1 Feedback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63040"/>
            <a:ext cx="1069848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20040"/>
            <a:ext cx="1106424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4000" b="1" dirty="0">
                <a:solidFill>
                  <a:srgbClr val="000000"/>
                </a:solidFill>
                <a:latin typeface="Times New Roman"/>
              </a:rPr>
              <a:t>Review 1 Comments and Actions Taken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58812985"/>
              </p:ext>
            </p:extLst>
          </p:nvPr>
        </p:nvGraphicFramePr>
        <p:xfrm>
          <a:off x="563880" y="1566672"/>
          <a:ext cx="11064240" cy="422452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880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880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6880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005841">
                <a:tc>
                  <a:txBody>
                    <a:bodyPr/>
                    <a:lstStyle/>
                    <a:p>
                      <a:pPr algn="l">
                        <a:spcAft>
                          <a:spcPts val="600"/>
                        </a:spcAft>
                      </a:pPr>
                      <a:r>
                        <a:rPr sz="2400" b="1" dirty="0">
                          <a:solidFill>
                            <a:schemeClr val="bg1"/>
                          </a:solidFill>
                          <a:latin typeface="Times New Roman"/>
                        </a:rPr>
                        <a:t>Panel comment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600"/>
                        </a:spcAft>
                      </a:pPr>
                      <a:r>
                        <a:rPr sz="2400" b="1">
                          <a:solidFill>
                            <a:schemeClr val="bg1"/>
                          </a:solidFill>
                          <a:latin typeface="Times New Roman"/>
                        </a:rPr>
                        <a:t>Action taken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600"/>
                        </a:spcAft>
                      </a:pPr>
                      <a:r>
                        <a:rPr sz="2400" b="1" dirty="0">
                          <a:solidFill>
                            <a:schemeClr val="bg1"/>
                          </a:solidFill>
                          <a:latin typeface="Times New Roman"/>
                        </a:rPr>
                        <a:t>Status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04672">
                <a:tc>
                  <a:txBody>
                    <a:bodyPr/>
                    <a:lstStyle/>
                    <a:p>
                      <a:pPr algn="l">
                        <a:spcAft>
                          <a:spcPts val="600"/>
                        </a:spcAft>
                      </a:pPr>
                      <a:endParaRPr sz="1400" b="0" dirty="0">
                        <a:solidFill>
                          <a:srgbClr val="000000"/>
                        </a:solidFill>
                        <a:latin typeface="Times New Roman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600"/>
                        </a:spcAft>
                      </a:pPr>
                      <a:endParaRPr sz="1400" b="0">
                        <a:solidFill>
                          <a:srgbClr val="000000"/>
                        </a:solidFill>
                        <a:latin typeface="Times New Roman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600"/>
                        </a:spcAft>
                      </a:pPr>
                      <a:endParaRPr sz="1400" b="0">
                        <a:solidFill>
                          <a:srgbClr val="000000"/>
                        </a:solidFill>
                        <a:latin typeface="Times New Roman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04672">
                <a:tc>
                  <a:txBody>
                    <a:bodyPr/>
                    <a:lstStyle/>
                    <a:p>
                      <a:pPr algn="l">
                        <a:spcAft>
                          <a:spcPts val="600"/>
                        </a:spcAft>
                      </a:pPr>
                      <a:endParaRPr sz="1400" b="0" dirty="0">
                        <a:solidFill>
                          <a:srgbClr val="000000"/>
                        </a:solidFill>
                        <a:latin typeface="Times New Roman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600"/>
                        </a:spcAft>
                      </a:pPr>
                      <a:endParaRPr sz="1400" b="0">
                        <a:solidFill>
                          <a:srgbClr val="000000"/>
                        </a:solidFill>
                        <a:latin typeface="Times New Roman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600"/>
                        </a:spcAft>
                      </a:pPr>
                      <a:endParaRPr sz="1400" b="0">
                        <a:solidFill>
                          <a:srgbClr val="000000"/>
                        </a:solidFill>
                        <a:latin typeface="Times New Roman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04672">
                <a:tc>
                  <a:txBody>
                    <a:bodyPr/>
                    <a:lstStyle/>
                    <a:p>
                      <a:pPr algn="l">
                        <a:spcAft>
                          <a:spcPts val="600"/>
                        </a:spcAft>
                      </a:pPr>
                      <a:endParaRPr sz="1400" b="0">
                        <a:solidFill>
                          <a:srgbClr val="000000"/>
                        </a:solidFill>
                        <a:latin typeface="Times New Roman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600"/>
                        </a:spcAft>
                      </a:pPr>
                      <a:endParaRPr sz="1400" b="0">
                        <a:solidFill>
                          <a:srgbClr val="000000"/>
                        </a:solidFill>
                        <a:latin typeface="Times New Roman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600"/>
                        </a:spcAft>
                      </a:pPr>
                      <a:endParaRPr sz="1400" b="0" dirty="0">
                        <a:solidFill>
                          <a:srgbClr val="000000"/>
                        </a:solidFill>
                        <a:latin typeface="Times New Roman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804672">
                <a:tc>
                  <a:txBody>
                    <a:bodyPr/>
                    <a:lstStyle/>
                    <a:p>
                      <a:pPr algn="l">
                        <a:spcAft>
                          <a:spcPts val="600"/>
                        </a:spcAft>
                      </a:pPr>
                      <a:endParaRPr sz="1400" b="0">
                        <a:solidFill>
                          <a:srgbClr val="000000"/>
                        </a:solidFill>
                        <a:latin typeface="Times New Roman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600"/>
                        </a:spcAft>
                      </a:pPr>
                      <a:endParaRPr sz="1400" b="0">
                        <a:solidFill>
                          <a:srgbClr val="000000"/>
                        </a:solidFill>
                        <a:latin typeface="Times New Roman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600"/>
                        </a:spcAft>
                      </a:pPr>
                      <a:endParaRPr sz="1400" b="0" dirty="0">
                        <a:solidFill>
                          <a:srgbClr val="000000"/>
                        </a:solidFill>
                        <a:latin typeface="Times New Roman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11338560" y="6400800"/>
            <a:ext cx="5486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spcAft>
                <a:spcPts val="600"/>
              </a:spcAft>
            </a:pPr>
            <a:r>
              <a:rPr sz="1200" b="0">
                <a:solidFill>
                  <a:srgbClr val="000000"/>
                </a:solidFill>
                <a:latin typeface="Times New Roman"/>
              </a:rPr>
              <a:t>5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840992" y="320040"/>
            <a:ext cx="9095232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 dirty="0">
                <a:solidFill>
                  <a:srgbClr val="000000"/>
                </a:solidFill>
                <a:latin typeface="Times New Roman"/>
              </a:rPr>
              <a:t> </a:t>
            </a:r>
            <a:r>
              <a:rPr sz="4000" b="1" dirty="0">
                <a:solidFill>
                  <a:srgbClr val="000000"/>
                </a:solidFill>
                <a:latin typeface="Times New Roman"/>
              </a:rPr>
              <a:t>Problem </a:t>
            </a:r>
            <a:r>
              <a:rPr lang="en-IN" sz="4000" b="1" dirty="0">
                <a:solidFill>
                  <a:srgbClr val="000000"/>
                </a:solidFill>
                <a:latin typeface="Times New Roman"/>
              </a:rPr>
              <a:t>Statement </a:t>
            </a:r>
            <a:r>
              <a:rPr sz="4000" b="1" dirty="0">
                <a:solidFill>
                  <a:srgbClr val="000000"/>
                </a:solidFill>
                <a:latin typeface="Times New Roman"/>
              </a:rPr>
              <a:t>and Objectives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338560" y="6400800"/>
            <a:ext cx="5486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spcAft>
                <a:spcPts val="600"/>
              </a:spcAft>
            </a:pPr>
            <a:r>
              <a:rPr sz="1200" b="0">
                <a:solidFill>
                  <a:srgbClr val="000000"/>
                </a:solidFill>
                <a:latin typeface="Times New Roman"/>
              </a:rPr>
              <a:t>6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974592" y="241679"/>
            <a:ext cx="5307194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4000" b="1" dirty="0">
                <a:solidFill>
                  <a:srgbClr val="000000"/>
                </a:solidFill>
                <a:latin typeface="Times New Roman"/>
              </a:rPr>
              <a:t>Literature</a:t>
            </a:r>
            <a:r>
              <a:rPr sz="3200" b="1" dirty="0">
                <a:solidFill>
                  <a:srgbClr val="000000"/>
                </a:solidFill>
                <a:latin typeface="Times New Roman"/>
              </a:rPr>
              <a:t> </a:t>
            </a:r>
            <a:r>
              <a:rPr sz="4000" b="1" dirty="0">
                <a:solidFill>
                  <a:srgbClr val="000000"/>
                </a:solidFill>
                <a:latin typeface="Times New Roman"/>
              </a:rPr>
              <a:t>Survey</a:t>
            </a:r>
            <a:endParaRPr sz="3200" b="1" dirty="0">
              <a:solidFill>
                <a:srgbClr val="000000"/>
              </a:solidFill>
              <a:latin typeface="Times New Roman"/>
            </a:endParaRPr>
          </a:p>
        </p:txBody>
      </p:sp>
      <p:graphicFrame>
        <p:nvGraphicFramePr>
          <p:cNvPr id="3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04422504"/>
              </p:ext>
            </p:extLst>
          </p:nvPr>
        </p:nvGraphicFramePr>
        <p:xfrm>
          <a:off x="548640" y="1554480"/>
          <a:ext cx="11064240" cy="1615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660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660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660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7660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algn="l">
                        <a:spcAft>
                          <a:spcPts val="600"/>
                        </a:spcAft>
                      </a:pPr>
                      <a:r>
                        <a:rPr sz="2800" b="1">
                          <a:solidFill>
                            <a:schemeClr val="bg1"/>
                          </a:solidFill>
                          <a:latin typeface="Times New Roman"/>
                        </a:rPr>
                        <a:t>Reference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600"/>
                        </a:spcAft>
                      </a:pPr>
                      <a:r>
                        <a:rPr sz="2800" b="1">
                          <a:solidFill>
                            <a:schemeClr val="bg1"/>
                          </a:solidFill>
                          <a:latin typeface="Times New Roman"/>
                        </a:rPr>
                        <a:t>Method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600"/>
                        </a:spcAft>
                      </a:pPr>
                      <a:r>
                        <a:rPr sz="2800" b="1">
                          <a:solidFill>
                            <a:schemeClr val="bg1"/>
                          </a:solidFill>
                          <a:latin typeface="Times New Roman"/>
                        </a:rPr>
                        <a:t>Key finding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600"/>
                        </a:spcAft>
                      </a:pPr>
                      <a:r>
                        <a:rPr sz="2800" b="1" dirty="0">
                          <a:solidFill>
                            <a:schemeClr val="bg1"/>
                          </a:solidFill>
                          <a:latin typeface="Times New Roman"/>
                        </a:rPr>
                        <a:t>Limitation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l">
                        <a:spcAft>
                          <a:spcPts val="600"/>
                        </a:spcAft>
                      </a:pPr>
                      <a:endParaRPr sz="1400" b="0" dirty="0">
                        <a:solidFill>
                          <a:srgbClr val="000000"/>
                        </a:solidFill>
                        <a:latin typeface="Times New Roman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600"/>
                        </a:spcAft>
                      </a:pPr>
                      <a:endParaRPr sz="1400" b="0">
                        <a:solidFill>
                          <a:srgbClr val="000000"/>
                        </a:solidFill>
                        <a:latin typeface="Times New Roman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600"/>
                        </a:spcAft>
                      </a:pPr>
                      <a:endParaRPr sz="1400" b="0">
                        <a:solidFill>
                          <a:srgbClr val="000000"/>
                        </a:solidFill>
                        <a:latin typeface="Times New Roman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600"/>
                        </a:spcAft>
                      </a:pPr>
                      <a:endParaRPr sz="1400" b="0" dirty="0">
                        <a:solidFill>
                          <a:srgbClr val="000000"/>
                        </a:solidFill>
                        <a:latin typeface="Times New Roman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l">
                        <a:spcAft>
                          <a:spcPts val="600"/>
                        </a:spcAft>
                      </a:pPr>
                      <a:endParaRPr sz="1400" b="0">
                        <a:solidFill>
                          <a:srgbClr val="000000"/>
                        </a:solidFill>
                        <a:latin typeface="Times New Roman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600"/>
                        </a:spcAft>
                      </a:pPr>
                      <a:endParaRPr sz="1400" b="0">
                        <a:solidFill>
                          <a:srgbClr val="000000"/>
                        </a:solidFill>
                        <a:latin typeface="Times New Roman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600"/>
                        </a:spcAft>
                      </a:pPr>
                      <a:endParaRPr sz="1400" b="0">
                        <a:solidFill>
                          <a:srgbClr val="000000"/>
                        </a:solidFill>
                        <a:latin typeface="Times New Roman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600"/>
                        </a:spcAft>
                      </a:pPr>
                      <a:endParaRPr sz="1400" b="0">
                        <a:solidFill>
                          <a:srgbClr val="000000"/>
                        </a:solidFill>
                        <a:latin typeface="Times New Roman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l">
                        <a:spcAft>
                          <a:spcPts val="600"/>
                        </a:spcAft>
                      </a:pPr>
                      <a:endParaRPr sz="1400" b="0" dirty="0">
                        <a:solidFill>
                          <a:srgbClr val="000000"/>
                        </a:solidFill>
                        <a:latin typeface="Times New Roman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600"/>
                        </a:spcAft>
                      </a:pPr>
                      <a:endParaRPr sz="1400" b="0">
                        <a:solidFill>
                          <a:srgbClr val="000000"/>
                        </a:solidFill>
                        <a:latin typeface="Times New Roman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600"/>
                        </a:spcAft>
                      </a:pPr>
                      <a:endParaRPr sz="1400" b="0">
                        <a:solidFill>
                          <a:srgbClr val="000000"/>
                        </a:solidFill>
                        <a:latin typeface="Times New Roman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600"/>
                        </a:spcAft>
                      </a:pPr>
                      <a:endParaRPr sz="1400" b="0" dirty="0">
                        <a:solidFill>
                          <a:srgbClr val="000000"/>
                        </a:solidFill>
                        <a:latin typeface="Times New Roman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11338560" y="6400800"/>
            <a:ext cx="5486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spcAft>
                <a:spcPts val="600"/>
              </a:spcAft>
            </a:pPr>
            <a:r>
              <a:rPr sz="1200" b="0">
                <a:solidFill>
                  <a:srgbClr val="000000"/>
                </a:solidFill>
                <a:latin typeface="Times New Roman"/>
              </a:rPr>
              <a:t>11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BF9DA03-E6F8-1DC5-17B3-3301ED7E830F}"/>
              </a:ext>
            </a:extLst>
          </p:cNvPr>
          <p:cNvSpPr txBox="1"/>
          <p:nvPr/>
        </p:nvSpPr>
        <p:spPr>
          <a:xfrm>
            <a:off x="548640" y="5893046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800" b="1" dirty="0">
                <a:solidFill>
                  <a:srgbClr val="FF0000"/>
                </a:solidFill>
                <a:latin typeface="Times New Roman"/>
              </a:rPr>
              <a:t>(Recent Years -10 papers)</a:t>
            </a:r>
            <a:r>
              <a:rPr lang="en-IN" sz="1400" b="1" dirty="0">
                <a:solidFill>
                  <a:srgbClr val="FF0000"/>
                </a:solidFill>
                <a:latin typeface="Times New Roman"/>
              </a:rPr>
              <a:t> </a:t>
            </a:r>
            <a:endParaRPr lang="en-IN" dirty="0"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35424" y="320040"/>
            <a:ext cx="1106424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4000" b="1" dirty="0">
                <a:solidFill>
                  <a:srgbClr val="000000"/>
                </a:solidFill>
                <a:latin typeface="Times New Roman"/>
              </a:rPr>
              <a:t>Research Gap 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338560" y="6400800"/>
            <a:ext cx="5486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spcAft>
                <a:spcPts val="600"/>
              </a:spcAft>
            </a:pPr>
            <a:r>
              <a:rPr sz="1200" b="0">
                <a:solidFill>
                  <a:srgbClr val="000000"/>
                </a:solidFill>
                <a:latin typeface="Times New Roman"/>
              </a:rPr>
              <a:t>12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20040"/>
            <a:ext cx="1106424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lang="en-IN" sz="4000" b="1" dirty="0">
                <a:solidFill>
                  <a:srgbClr val="000000"/>
                </a:solidFill>
                <a:latin typeface="Times New Roman"/>
              </a:rPr>
              <a:t>Proposed </a:t>
            </a:r>
            <a:r>
              <a:rPr sz="4000" b="1" dirty="0">
                <a:solidFill>
                  <a:srgbClr val="000000"/>
                </a:solidFill>
                <a:latin typeface="Times New Roman"/>
              </a:rPr>
              <a:t>Method</a:t>
            </a:r>
            <a:r>
              <a:rPr lang="en-IN" sz="4000" b="1" dirty="0">
                <a:solidFill>
                  <a:srgbClr val="000000"/>
                </a:solidFill>
                <a:latin typeface="Times New Roman"/>
              </a:rPr>
              <a:t>(Block Diagram)</a:t>
            </a:r>
            <a:endParaRPr sz="4000" b="1" dirty="0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1338560" y="6400800"/>
            <a:ext cx="5486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spcAft>
                <a:spcPts val="600"/>
              </a:spcAft>
            </a:pPr>
            <a:r>
              <a:rPr sz="1200" b="0">
                <a:solidFill>
                  <a:srgbClr val="000000"/>
                </a:solidFill>
                <a:latin typeface="Times New Roman"/>
              </a:rPr>
              <a:t>13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56981A95-0336-CB41-A76C-3010F50A9323}"/>
              </a:ext>
            </a:extLst>
          </p:cNvPr>
          <p:cNvSpPr txBox="1"/>
          <p:nvPr/>
        </p:nvSpPr>
        <p:spPr>
          <a:xfrm>
            <a:off x="1731264" y="40886"/>
            <a:ext cx="6851904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4000" b="1" dirty="0">
                <a:solidFill>
                  <a:srgbClr val="000000"/>
                </a:solidFill>
                <a:latin typeface="Times New Roman"/>
              </a:rPr>
              <a:t>Design of the proposed work  </a:t>
            </a:r>
          </a:p>
        </p:txBody>
      </p:sp>
    </p:spTree>
    <p:extLst>
      <p:ext uri="{BB962C8B-B14F-4D97-AF65-F5344CB8AC3E}">
        <p14:creationId xmlns:p14="http://schemas.microsoft.com/office/powerpoint/2010/main" val="34596246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-33903"/>
            <a:ext cx="1106424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lang="en-IN" sz="4000" b="1" dirty="0">
                <a:solidFill>
                  <a:srgbClr val="000000"/>
                </a:solidFill>
                <a:latin typeface="Times New Roman"/>
              </a:rPr>
              <a:t>Flow Diagram/Algorithm</a:t>
            </a:r>
            <a:endParaRPr sz="4000" b="1" dirty="0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1338560" y="6400800"/>
            <a:ext cx="5486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spcAft>
                <a:spcPts val="600"/>
              </a:spcAft>
            </a:pPr>
            <a:r>
              <a:rPr sz="1200" b="0">
                <a:solidFill>
                  <a:srgbClr val="000000"/>
                </a:solidFill>
                <a:latin typeface="Times New Roman"/>
              </a:rPr>
              <a:t>15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20040"/>
            <a:ext cx="1106424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4000" b="1" dirty="0">
                <a:solidFill>
                  <a:srgbClr val="000000"/>
                </a:solidFill>
                <a:latin typeface="Times New Roman"/>
              </a:rPr>
              <a:t>Simulation </a:t>
            </a:r>
            <a:r>
              <a:rPr lang="en-IN" sz="4000" b="1" dirty="0">
                <a:solidFill>
                  <a:srgbClr val="000000"/>
                </a:solidFill>
                <a:latin typeface="Times New Roman"/>
              </a:rPr>
              <a:t>Software and Parameters </a:t>
            </a:r>
            <a:endParaRPr sz="4000" b="1" dirty="0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1338560" y="6400800"/>
            <a:ext cx="5486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spcAft>
                <a:spcPts val="600"/>
              </a:spcAft>
            </a:pPr>
            <a:r>
              <a:rPr sz="1200" b="0">
                <a:solidFill>
                  <a:srgbClr val="000000"/>
                </a:solidFill>
                <a:latin typeface="Times New Roman"/>
              </a:rPr>
              <a:t>19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491865" y="148590"/>
            <a:ext cx="554736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4000" b="1" dirty="0">
                <a:solidFill>
                  <a:srgbClr val="000000"/>
                </a:solidFill>
                <a:latin typeface="Times New Roman"/>
              </a:rPr>
              <a:t>Results</a:t>
            </a:r>
            <a:r>
              <a:rPr lang="en-IN" sz="4000" b="1" dirty="0">
                <a:solidFill>
                  <a:srgbClr val="000000"/>
                </a:solidFill>
                <a:latin typeface="Times New Roman"/>
              </a:rPr>
              <a:t> and Discussion</a:t>
            </a:r>
            <a:endParaRPr sz="4000" b="1" dirty="0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1338560" y="6400800"/>
            <a:ext cx="5486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spcAft>
                <a:spcPts val="600"/>
              </a:spcAft>
            </a:pPr>
            <a:r>
              <a:rPr sz="1200" b="0">
                <a:solidFill>
                  <a:srgbClr val="000000"/>
                </a:solidFill>
                <a:latin typeface="Times New Roman"/>
              </a:rPr>
              <a:t>20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7D60F37-8A16-3A3C-8BDB-AEF39FFA1693}"/>
              </a:ext>
            </a:extLst>
          </p:cNvPr>
          <p:cNvSpPr txBox="1"/>
          <p:nvPr/>
        </p:nvSpPr>
        <p:spPr>
          <a:xfrm>
            <a:off x="1438656" y="1720840"/>
            <a:ext cx="8034528" cy="2677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400" b="1" dirty="0">
                <a:solidFill>
                  <a:srgbClr val="FF0000"/>
                </a:solidFill>
                <a:latin typeface="Times New Roman"/>
              </a:rPr>
              <a:t>Instruction : </a:t>
            </a:r>
          </a:p>
          <a:p>
            <a:endParaRPr lang="en-IN" sz="2400" b="1" dirty="0">
              <a:solidFill>
                <a:srgbClr val="FF0000"/>
              </a:solidFill>
              <a:latin typeface="Times New Roman"/>
            </a:endParaRPr>
          </a:p>
          <a:p>
            <a:endParaRPr lang="en-IN" sz="2400" b="1" dirty="0">
              <a:solidFill>
                <a:srgbClr val="FF0000"/>
              </a:solidFill>
              <a:latin typeface="Times New Roman"/>
            </a:endParaRPr>
          </a:p>
          <a:p>
            <a:r>
              <a:rPr lang="en-IN" sz="2400" b="1" dirty="0">
                <a:solidFill>
                  <a:srgbClr val="FF0000"/>
                </a:solidFill>
                <a:latin typeface="Times New Roman"/>
              </a:rPr>
              <a:t>Increase the number of slides as per your project.</a:t>
            </a:r>
          </a:p>
          <a:p>
            <a:endParaRPr lang="en-IN" sz="2400" b="1" dirty="0">
              <a:solidFill>
                <a:srgbClr val="FF0000"/>
              </a:solidFill>
              <a:latin typeface="Times New Roman"/>
            </a:endParaRPr>
          </a:p>
          <a:p>
            <a:r>
              <a:rPr lang="en-IN" sz="2400" b="1" dirty="0">
                <a:solidFill>
                  <a:srgbClr val="FF0000"/>
                </a:solidFill>
                <a:latin typeface="Times New Roman"/>
              </a:rPr>
              <a:t>The simulation has to be explained and demonstrated</a:t>
            </a:r>
          </a:p>
          <a:p>
            <a:endParaRPr lang="en-IN" sz="2400" b="1" dirty="0">
              <a:solidFill>
                <a:srgbClr val="FF0000"/>
              </a:solidFill>
              <a:latin typeface="Times New Roman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329184" y="0"/>
            <a:ext cx="1106424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3600" b="1" i="0" dirty="0">
                <a:solidFill>
                  <a:srgbClr val="000000"/>
                </a:solidFill>
                <a:latin typeface="Times New Roman"/>
              </a:rPr>
              <a:t>PO / PSO Mapping</a:t>
            </a:r>
          </a:p>
        </p:txBody>
      </p:sp>
      <p:sp>
        <p:nvSpPr>
          <p:cNvPr id="3" name="Slide number"/>
          <p:cNvSpPr txBox="1"/>
          <p:nvPr/>
        </p:nvSpPr>
        <p:spPr>
          <a:xfrm>
            <a:off x="11155680" y="6400800"/>
            <a:ext cx="731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600"/>
              </a:spcAft>
            </a:pPr>
            <a:r>
              <a:rPr sz="1200" b="0" i="0">
                <a:solidFill>
                  <a:srgbClr val="000000"/>
                </a:solidFill>
                <a:latin typeface="Times New Roman"/>
              </a:rPr>
              <a:t>2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694944"/>
          <a:ext cx="11064240" cy="76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3761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3761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3761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3761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37616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737616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737616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737616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737616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737616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737616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737616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  <a:gridCol w="737616">
                  <a:extLst>
                    <a:ext uri="{9D8B030D-6E8A-4147-A177-3AD203B41FA5}">
                      <a16:colId xmlns:a16="http://schemas.microsoft.com/office/drawing/2014/main" val="20012"/>
                    </a:ext>
                  </a:extLst>
                </a:gridCol>
                <a:gridCol w="737616">
                  <a:extLst>
                    <a:ext uri="{9D8B030D-6E8A-4147-A177-3AD203B41FA5}">
                      <a16:colId xmlns:a16="http://schemas.microsoft.com/office/drawing/2014/main" val="20013"/>
                    </a:ext>
                  </a:extLst>
                </a:gridCol>
                <a:gridCol w="737616">
                  <a:extLst>
                    <a:ext uri="{9D8B030D-6E8A-4147-A177-3AD203B41FA5}">
                      <a16:colId xmlns:a16="http://schemas.microsoft.com/office/drawing/2014/main" val="20014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algn="ctr"/>
                      <a:r>
                        <a:rPr sz="1400" b="1" i="0">
                          <a:solidFill>
                            <a:srgbClr val="FFFFFF"/>
                          </a:solidFill>
                          <a:latin typeface="Times New Roman"/>
                        </a:rPr>
                        <a:t>PO1</a:t>
                      </a:r>
                    </a:p>
                  </a:txBody>
                  <a:tcPr marL="18288" marR="18288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 i="0">
                          <a:solidFill>
                            <a:srgbClr val="FFFFFF"/>
                          </a:solidFill>
                          <a:latin typeface="Times New Roman"/>
                        </a:rPr>
                        <a:t>PO2</a:t>
                      </a:r>
                    </a:p>
                  </a:txBody>
                  <a:tcPr marL="18288" marR="18288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 i="0">
                          <a:solidFill>
                            <a:srgbClr val="FFFFFF"/>
                          </a:solidFill>
                          <a:latin typeface="Times New Roman"/>
                        </a:rPr>
                        <a:t>PO3</a:t>
                      </a:r>
                    </a:p>
                  </a:txBody>
                  <a:tcPr marL="18288" marR="18288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 i="0">
                          <a:solidFill>
                            <a:srgbClr val="FFFFFF"/>
                          </a:solidFill>
                          <a:latin typeface="Times New Roman"/>
                        </a:rPr>
                        <a:t>PO4</a:t>
                      </a:r>
                    </a:p>
                  </a:txBody>
                  <a:tcPr marL="18288" marR="18288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 i="0">
                          <a:solidFill>
                            <a:srgbClr val="FFFFFF"/>
                          </a:solidFill>
                          <a:latin typeface="Times New Roman"/>
                        </a:rPr>
                        <a:t>PO5</a:t>
                      </a:r>
                    </a:p>
                  </a:txBody>
                  <a:tcPr marL="18288" marR="18288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 i="0" dirty="0">
                          <a:solidFill>
                            <a:srgbClr val="FFFFFF"/>
                          </a:solidFill>
                          <a:latin typeface="Times New Roman"/>
                        </a:rPr>
                        <a:t>PO6</a:t>
                      </a:r>
                    </a:p>
                  </a:txBody>
                  <a:tcPr marL="18288" marR="18288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 i="0">
                          <a:solidFill>
                            <a:srgbClr val="FFFFFF"/>
                          </a:solidFill>
                          <a:latin typeface="Times New Roman"/>
                        </a:rPr>
                        <a:t>PO7</a:t>
                      </a:r>
                    </a:p>
                  </a:txBody>
                  <a:tcPr marL="18288" marR="18288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 i="0">
                          <a:solidFill>
                            <a:srgbClr val="FFFFFF"/>
                          </a:solidFill>
                          <a:latin typeface="Times New Roman"/>
                        </a:rPr>
                        <a:t>PO8</a:t>
                      </a:r>
                    </a:p>
                  </a:txBody>
                  <a:tcPr marL="18288" marR="18288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 i="0">
                          <a:solidFill>
                            <a:srgbClr val="FFFFFF"/>
                          </a:solidFill>
                          <a:latin typeface="Times New Roman"/>
                        </a:rPr>
                        <a:t>PO9</a:t>
                      </a:r>
                    </a:p>
                  </a:txBody>
                  <a:tcPr marL="18288" marR="18288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 i="0">
                          <a:solidFill>
                            <a:srgbClr val="FFFFFF"/>
                          </a:solidFill>
                          <a:latin typeface="Times New Roman"/>
                        </a:rPr>
                        <a:t>PO10</a:t>
                      </a:r>
                    </a:p>
                  </a:txBody>
                  <a:tcPr marL="18288" marR="18288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 i="0">
                          <a:solidFill>
                            <a:srgbClr val="FFFFFF"/>
                          </a:solidFill>
                          <a:latin typeface="Times New Roman"/>
                        </a:rPr>
                        <a:t>PO11</a:t>
                      </a:r>
                    </a:p>
                  </a:txBody>
                  <a:tcPr marL="18288" marR="18288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 i="0">
                          <a:solidFill>
                            <a:srgbClr val="FFFFFF"/>
                          </a:solidFill>
                          <a:latin typeface="Times New Roman"/>
                        </a:rPr>
                        <a:t>PO12</a:t>
                      </a:r>
                    </a:p>
                  </a:txBody>
                  <a:tcPr marL="18288" marR="18288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 i="0">
                          <a:solidFill>
                            <a:srgbClr val="FFFFFF"/>
                          </a:solidFill>
                          <a:latin typeface="Times New Roman"/>
                        </a:rPr>
                        <a:t>PSO1</a:t>
                      </a:r>
                    </a:p>
                  </a:txBody>
                  <a:tcPr marL="18288" marR="18288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 i="0">
                          <a:solidFill>
                            <a:srgbClr val="FFFFFF"/>
                          </a:solidFill>
                          <a:latin typeface="Times New Roman"/>
                        </a:rPr>
                        <a:t>PSO2</a:t>
                      </a:r>
                    </a:p>
                  </a:txBody>
                  <a:tcPr marL="18288" marR="18288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 i="0">
                          <a:solidFill>
                            <a:srgbClr val="FFFFFF"/>
                          </a:solidFill>
                          <a:latin typeface="Times New Roman"/>
                        </a:rPr>
                        <a:t>PSO3</a:t>
                      </a:r>
                    </a:p>
                  </a:txBody>
                  <a:tcPr marL="18288" marR="18288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ctr"/>
                      <a:r>
                        <a:rPr sz="2000" b="1" i="0">
                          <a:solidFill>
                            <a:srgbClr val="000000"/>
                          </a:solidFill>
                          <a:latin typeface="Times New Roman"/>
                        </a:rPr>
                        <a:t>3</a:t>
                      </a:r>
                    </a:p>
                  </a:txBody>
                  <a:tcPr marL="18288" marR="18288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 b="1" i="0">
                          <a:solidFill>
                            <a:srgbClr val="000000"/>
                          </a:solidFill>
                          <a:latin typeface="Times New Roman"/>
                        </a:rPr>
                        <a:t>3</a:t>
                      </a:r>
                    </a:p>
                  </a:txBody>
                  <a:tcPr marL="18288" marR="18288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 b="1" i="0">
                          <a:solidFill>
                            <a:srgbClr val="000000"/>
                          </a:solidFill>
                          <a:latin typeface="Times New Roman"/>
                        </a:rPr>
                        <a:t>3</a:t>
                      </a:r>
                    </a:p>
                  </a:txBody>
                  <a:tcPr marL="18288" marR="18288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 b="1" i="0" dirty="0">
                          <a:solidFill>
                            <a:srgbClr val="000000"/>
                          </a:solidFill>
                          <a:latin typeface="Times New Roman"/>
                        </a:rPr>
                        <a:t>2</a:t>
                      </a:r>
                    </a:p>
                  </a:txBody>
                  <a:tcPr marL="18288" marR="18288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 b="1" i="0" dirty="0">
                          <a:solidFill>
                            <a:srgbClr val="000000"/>
                          </a:solidFill>
                          <a:latin typeface="Times New Roman"/>
                        </a:rPr>
                        <a:t>3</a:t>
                      </a:r>
                    </a:p>
                  </a:txBody>
                  <a:tcPr marL="18288" marR="18288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 b="1" i="0">
                          <a:solidFill>
                            <a:srgbClr val="000000"/>
                          </a:solidFill>
                          <a:latin typeface="Times New Roman"/>
                        </a:rPr>
                        <a:t>2</a:t>
                      </a:r>
                    </a:p>
                  </a:txBody>
                  <a:tcPr marL="18288" marR="18288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 b="1" i="0">
                          <a:solidFill>
                            <a:srgbClr val="000000"/>
                          </a:solidFill>
                          <a:latin typeface="Times New Roman"/>
                        </a:rPr>
                        <a:t>3</a:t>
                      </a:r>
                    </a:p>
                  </a:txBody>
                  <a:tcPr marL="18288" marR="18288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 b="1" i="0">
                          <a:solidFill>
                            <a:srgbClr val="000000"/>
                          </a:solidFill>
                          <a:latin typeface="Times New Roman"/>
                        </a:rPr>
                        <a:t>1</a:t>
                      </a:r>
                    </a:p>
                  </a:txBody>
                  <a:tcPr marL="18288" marR="18288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 b="1" i="0">
                          <a:solidFill>
                            <a:srgbClr val="000000"/>
                          </a:solidFill>
                          <a:latin typeface="Times New Roman"/>
                        </a:rPr>
                        <a:t>2</a:t>
                      </a:r>
                    </a:p>
                  </a:txBody>
                  <a:tcPr marL="18288" marR="18288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 b="1" i="0">
                          <a:solidFill>
                            <a:srgbClr val="000000"/>
                          </a:solidFill>
                          <a:latin typeface="Times New Roman"/>
                        </a:rPr>
                        <a:t>2</a:t>
                      </a:r>
                    </a:p>
                  </a:txBody>
                  <a:tcPr marL="18288" marR="18288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 b="1" i="0">
                          <a:solidFill>
                            <a:srgbClr val="000000"/>
                          </a:solidFill>
                          <a:latin typeface="Times New Roman"/>
                        </a:rPr>
                        <a:t>1</a:t>
                      </a:r>
                    </a:p>
                  </a:txBody>
                  <a:tcPr marL="18288" marR="18288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 b="1" i="0">
                          <a:solidFill>
                            <a:srgbClr val="000000"/>
                          </a:solidFill>
                          <a:latin typeface="Times New Roman"/>
                        </a:rPr>
                        <a:t>2</a:t>
                      </a:r>
                    </a:p>
                  </a:txBody>
                  <a:tcPr marL="18288" marR="18288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 b="1" i="0">
                          <a:solidFill>
                            <a:srgbClr val="000000"/>
                          </a:solidFill>
                          <a:latin typeface="Times New Roman"/>
                        </a:rPr>
                        <a:t>3</a:t>
                      </a:r>
                    </a:p>
                  </a:txBody>
                  <a:tcPr marL="18288" marR="18288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 b="1" i="0">
                          <a:solidFill>
                            <a:srgbClr val="000000"/>
                          </a:solidFill>
                          <a:latin typeface="Times New Roman"/>
                        </a:rPr>
                        <a:t>3</a:t>
                      </a:r>
                    </a:p>
                  </a:txBody>
                  <a:tcPr marL="18288" marR="18288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 b="1" i="0" dirty="0">
                          <a:solidFill>
                            <a:srgbClr val="000000"/>
                          </a:solidFill>
                          <a:latin typeface="Times New Roman"/>
                        </a:rPr>
                        <a:t>2</a:t>
                      </a:r>
                    </a:p>
                  </a:txBody>
                  <a:tcPr marL="18288" marR="18288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13" name="Table 1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49328031"/>
              </p:ext>
            </p:extLst>
          </p:nvPr>
        </p:nvGraphicFramePr>
        <p:xfrm>
          <a:off x="158496" y="2051304"/>
          <a:ext cx="11728705" cy="4800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6317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72383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4169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85800">
                <a:tc>
                  <a:txBody>
                    <a:bodyPr/>
                    <a:lstStyle/>
                    <a:p>
                      <a:r>
                        <a:rPr sz="1800" b="1" i="0">
                          <a:solidFill>
                            <a:srgbClr val="FFFFFF"/>
                          </a:solidFill>
                          <a:latin typeface="Times New Roman"/>
                        </a:rPr>
                        <a:t>PO No.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sz="1800" b="1" i="0">
                          <a:solidFill>
                            <a:srgbClr val="FFFFFF"/>
                          </a:solidFill>
                          <a:latin typeface="Times New Roman"/>
                        </a:rPr>
                        <a:t>What I learnt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1" i="0">
                          <a:solidFill>
                            <a:srgbClr val="FFFFFF"/>
                          </a:solidFill>
                          <a:latin typeface="Times New Roman"/>
                        </a:rPr>
                        <a:t>Mapping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85800">
                <a:tc>
                  <a:txBody>
                    <a:bodyPr/>
                    <a:lstStyle/>
                    <a:p>
                      <a:r>
                        <a:rPr sz="1700" b="1" i="0">
                          <a:solidFill>
                            <a:srgbClr val="000000"/>
                          </a:solidFill>
                          <a:latin typeface="Times New Roman"/>
                        </a:rPr>
                        <a:t>PO1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sz="1700" b="0" i="0" dirty="0">
                          <a:solidFill>
                            <a:srgbClr val="000000"/>
                          </a:solidFill>
                          <a:highlight>
                            <a:srgbClr val="FFFF00"/>
                          </a:highlight>
                          <a:latin typeface="Times New Roman"/>
                        </a:rPr>
                        <a:t>Applied fundamental electromagnetic theory and materials science knowledge to design an advanced antenna.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700" b="0" i="0" dirty="0">
                          <a:solidFill>
                            <a:srgbClr val="000000"/>
                          </a:solidFill>
                          <a:highlight>
                            <a:srgbClr val="FFFF00"/>
                          </a:highlight>
                          <a:latin typeface="Times New Roman"/>
                        </a:rPr>
                        <a:t>3 – High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85800">
                <a:tc>
                  <a:txBody>
                    <a:bodyPr/>
                    <a:lstStyle/>
                    <a:p>
                      <a:r>
                        <a:rPr sz="1700" b="1" i="0">
                          <a:solidFill>
                            <a:srgbClr val="000000"/>
                          </a:solidFill>
                          <a:latin typeface="Times New Roman"/>
                        </a:rPr>
                        <a:t>PO2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sz="1700" b="0" i="0" dirty="0">
                          <a:solidFill>
                            <a:srgbClr val="000000"/>
                          </a:solidFill>
                          <a:highlight>
                            <a:srgbClr val="FFFF00"/>
                          </a:highlight>
                          <a:latin typeface="Times New Roman"/>
                        </a:rPr>
                        <a:t>Analyzed RF signal behavior and antenna performance using simulation and theoretical tools.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700" b="0" i="0">
                          <a:solidFill>
                            <a:srgbClr val="000000"/>
                          </a:solidFill>
                          <a:highlight>
                            <a:srgbClr val="FFFF00"/>
                          </a:highlight>
                          <a:latin typeface="Times New Roman"/>
                        </a:rPr>
                        <a:t>3 – High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85800">
                <a:tc>
                  <a:txBody>
                    <a:bodyPr/>
                    <a:lstStyle/>
                    <a:p>
                      <a:r>
                        <a:rPr sz="1700" b="1" i="0">
                          <a:solidFill>
                            <a:srgbClr val="000000"/>
                          </a:solidFill>
                          <a:latin typeface="Times New Roman"/>
                        </a:rPr>
                        <a:t>PO3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sz="1700" b="0" i="0" dirty="0">
                          <a:solidFill>
                            <a:srgbClr val="000000"/>
                          </a:solidFill>
                          <a:highlight>
                            <a:srgbClr val="FFFF00"/>
                          </a:highlight>
                          <a:latin typeface="Times New Roman"/>
                        </a:rPr>
                        <a:t>Designed and developed a novel slotted triangular patch antenna using graphene material for energy harvesting.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700" b="0" i="0" dirty="0">
                          <a:solidFill>
                            <a:srgbClr val="000000"/>
                          </a:solidFill>
                          <a:highlight>
                            <a:srgbClr val="FFFF00"/>
                          </a:highlight>
                          <a:latin typeface="Times New Roman"/>
                        </a:rPr>
                        <a:t>3 – High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85800">
                <a:tc>
                  <a:txBody>
                    <a:bodyPr/>
                    <a:lstStyle/>
                    <a:p>
                      <a:r>
                        <a:rPr sz="1700" b="1" i="0">
                          <a:solidFill>
                            <a:srgbClr val="000000"/>
                          </a:solidFill>
                          <a:latin typeface="Times New Roman"/>
                        </a:rPr>
                        <a:t>PO4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sz="1700" b="0" i="0" dirty="0">
                          <a:solidFill>
                            <a:srgbClr val="000000"/>
                          </a:solidFill>
                          <a:highlight>
                            <a:srgbClr val="FFFF00"/>
                          </a:highlight>
                          <a:latin typeface="Times New Roman"/>
                        </a:rPr>
                        <a:t>Investigated antenna characteristics like gain, bandwidth, and return loss through simulation and measurement.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700" b="0" i="0" dirty="0">
                          <a:solidFill>
                            <a:srgbClr val="000000"/>
                          </a:solidFill>
                          <a:highlight>
                            <a:srgbClr val="FFFF00"/>
                          </a:highlight>
                          <a:latin typeface="Times New Roman"/>
                        </a:rPr>
                        <a:t>2 – Medium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85800">
                <a:tc>
                  <a:txBody>
                    <a:bodyPr/>
                    <a:lstStyle/>
                    <a:p>
                      <a:r>
                        <a:rPr sz="1700" b="1" i="0">
                          <a:solidFill>
                            <a:srgbClr val="000000"/>
                          </a:solidFill>
                          <a:latin typeface="Times New Roman"/>
                        </a:rPr>
                        <a:t>PO5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sz="1700" b="0" i="0" dirty="0">
                          <a:solidFill>
                            <a:srgbClr val="000000"/>
                          </a:solidFill>
                          <a:highlight>
                            <a:srgbClr val="FFFF00"/>
                          </a:highlight>
                          <a:latin typeface="Times New Roman"/>
                        </a:rPr>
                        <a:t>Used modern engineering tools such as COMSOL for antenna modeling and optimization.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700" b="0" i="0" dirty="0">
                          <a:solidFill>
                            <a:srgbClr val="000000"/>
                          </a:solidFill>
                          <a:highlight>
                            <a:srgbClr val="FFFF00"/>
                          </a:highlight>
                          <a:latin typeface="Times New Roman"/>
                        </a:rPr>
                        <a:t>3 – High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685800">
                <a:tc>
                  <a:txBody>
                    <a:bodyPr/>
                    <a:lstStyle/>
                    <a:p>
                      <a:r>
                        <a:rPr sz="1700" b="1" i="0" dirty="0">
                          <a:solidFill>
                            <a:srgbClr val="000000"/>
                          </a:solidFill>
                          <a:latin typeface="Times New Roman"/>
                        </a:rPr>
                        <a:t>PO6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sz="1700" b="0" i="0" dirty="0">
                          <a:solidFill>
                            <a:srgbClr val="000000"/>
                          </a:solidFill>
                          <a:highlight>
                            <a:srgbClr val="FFFF00"/>
                          </a:highlight>
                          <a:latin typeface="Times New Roman"/>
                        </a:rPr>
                        <a:t>Understood the societal impact of energy harvesting in low-power wireless and IoT applications.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700" b="0" i="0" dirty="0">
                          <a:solidFill>
                            <a:srgbClr val="000000"/>
                          </a:solidFill>
                          <a:highlight>
                            <a:srgbClr val="FFFF00"/>
                          </a:highlight>
                          <a:latin typeface="Times New Roman"/>
                        </a:rPr>
                        <a:t>2 – Medium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15" name="TextBox 14">
            <a:extLst>
              <a:ext uri="{FF2B5EF4-FFF2-40B4-BE49-F238E27FC236}">
                <a16:creationId xmlns:a16="http://schemas.microsoft.com/office/drawing/2014/main" id="{2E5833A5-3EC6-BEB4-9EF9-B24BE4708FE2}"/>
              </a:ext>
            </a:extLst>
          </p:cNvPr>
          <p:cNvSpPr txBox="1"/>
          <p:nvPr/>
        </p:nvSpPr>
        <p:spPr>
          <a:xfrm>
            <a:off x="158496" y="1534959"/>
            <a:ext cx="6096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lang="en-IN" sz="2400" b="1" i="0" dirty="0">
                <a:solidFill>
                  <a:srgbClr val="000000"/>
                </a:solidFill>
                <a:latin typeface="Times New Roman"/>
              </a:rPr>
              <a:t>POs Learnt (PO1 – PO6)</a:t>
            </a:r>
            <a:endParaRPr lang="en-IN" sz="2400" b="1" i="0" dirty="0">
              <a:solidFill>
                <a:srgbClr val="FF0000"/>
              </a:solidFill>
              <a:latin typeface="Times New Roman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548640" y="274320"/>
            <a:ext cx="1106424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3600" b="1" i="0">
                <a:solidFill>
                  <a:srgbClr val="000000"/>
                </a:solidFill>
                <a:latin typeface="Times New Roman"/>
              </a:rPr>
              <a:t>POs Learnt (PO7 – PO12)</a:t>
            </a:r>
          </a:p>
        </p:txBody>
      </p:sp>
      <p:sp>
        <p:nvSpPr>
          <p:cNvPr id="3" name="Slide number"/>
          <p:cNvSpPr txBox="1"/>
          <p:nvPr/>
        </p:nvSpPr>
        <p:spPr>
          <a:xfrm>
            <a:off x="11155680" y="6400800"/>
            <a:ext cx="731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600"/>
              </a:spcAft>
            </a:pPr>
            <a:r>
              <a:rPr sz="1200" b="0" i="0">
                <a:solidFill>
                  <a:srgbClr val="000000"/>
                </a:solidFill>
                <a:latin typeface="Times New Roman"/>
              </a:rPr>
              <a:t>4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58168769"/>
              </p:ext>
            </p:extLst>
          </p:nvPr>
        </p:nvGraphicFramePr>
        <p:xfrm>
          <a:off x="548640" y="1280160"/>
          <a:ext cx="11064240" cy="4800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972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229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373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85800">
                <a:tc>
                  <a:txBody>
                    <a:bodyPr/>
                    <a:lstStyle/>
                    <a:p>
                      <a:r>
                        <a:rPr sz="1800" b="1" i="0">
                          <a:solidFill>
                            <a:srgbClr val="FFFFFF"/>
                          </a:solidFill>
                          <a:latin typeface="Times New Roman"/>
                        </a:rPr>
                        <a:t>PO No.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sz="1800" b="1" i="0">
                          <a:solidFill>
                            <a:srgbClr val="FFFFFF"/>
                          </a:solidFill>
                          <a:latin typeface="Times New Roman"/>
                        </a:rPr>
                        <a:t>What I learnt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1" i="0">
                          <a:solidFill>
                            <a:srgbClr val="FFFFFF"/>
                          </a:solidFill>
                          <a:latin typeface="Times New Roman"/>
                        </a:rPr>
                        <a:t>Mapping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85800">
                <a:tc>
                  <a:txBody>
                    <a:bodyPr/>
                    <a:lstStyle/>
                    <a:p>
                      <a:r>
                        <a:rPr sz="1700" b="1" i="0">
                          <a:solidFill>
                            <a:srgbClr val="000000"/>
                          </a:solidFill>
                          <a:latin typeface="Times New Roman"/>
                        </a:rPr>
                        <a:t>PO7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sz="1700" b="0" i="0" dirty="0">
                          <a:solidFill>
                            <a:srgbClr val="000000"/>
                          </a:solidFill>
                          <a:highlight>
                            <a:srgbClr val="FFFF00"/>
                          </a:highlight>
                          <a:latin typeface="Times New Roman"/>
                        </a:rPr>
                        <a:t>Promoted sustainable technology through RF energy harvesting to support green electronics.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700" b="0" i="0" dirty="0">
                          <a:solidFill>
                            <a:srgbClr val="000000"/>
                          </a:solidFill>
                          <a:highlight>
                            <a:srgbClr val="FFFF00"/>
                          </a:highlight>
                          <a:latin typeface="Times New Roman"/>
                        </a:rPr>
                        <a:t>3 – High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85800">
                <a:tc>
                  <a:txBody>
                    <a:bodyPr/>
                    <a:lstStyle/>
                    <a:p>
                      <a:r>
                        <a:rPr sz="1700" b="1" i="0">
                          <a:solidFill>
                            <a:srgbClr val="000000"/>
                          </a:solidFill>
                          <a:latin typeface="Times New Roman"/>
                        </a:rPr>
                        <a:t>PO8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sz="1700" b="0" i="0" dirty="0">
                          <a:solidFill>
                            <a:srgbClr val="000000"/>
                          </a:solidFill>
                          <a:highlight>
                            <a:srgbClr val="FFFF00"/>
                          </a:highlight>
                          <a:latin typeface="Times New Roman"/>
                        </a:rPr>
                        <a:t>Followed ethical guidelines in research, simulation, and documentation.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700" b="0" i="0" dirty="0">
                          <a:solidFill>
                            <a:srgbClr val="000000"/>
                          </a:solidFill>
                          <a:highlight>
                            <a:srgbClr val="FFFF00"/>
                          </a:highlight>
                          <a:latin typeface="Times New Roman"/>
                        </a:rPr>
                        <a:t>1 – Low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85800">
                <a:tc>
                  <a:txBody>
                    <a:bodyPr/>
                    <a:lstStyle/>
                    <a:p>
                      <a:r>
                        <a:rPr sz="1700" b="1" i="0">
                          <a:solidFill>
                            <a:srgbClr val="000000"/>
                          </a:solidFill>
                          <a:latin typeface="Times New Roman"/>
                        </a:rPr>
                        <a:t>PO9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sz="1700" b="0" i="0" dirty="0">
                          <a:solidFill>
                            <a:srgbClr val="000000"/>
                          </a:solidFill>
                          <a:highlight>
                            <a:srgbClr val="FFFF00"/>
                          </a:highlight>
                          <a:latin typeface="Times New Roman"/>
                        </a:rPr>
                        <a:t>Collaborated effectively within a team to divide tasks in design, simulation, and testing phases.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700" b="0" i="0" dirty="0">
                          <a:solidFill>
                            <a:srgbClr val="000000"/>
                          </a:solidFill>
                          <a:highlight>
                            <a:srgbClr val="FFFF00"/>
                          </a:highlight>
                          <a:latin typeface="Times New Roman"/>
                        </a:rPr>
                        <a:t>2 – Medium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85800">
                <a:tc>
                  <a:txBody>
                    <a:bodyPr/>
                    <a:lstStyle/>
                    <a:p>
                      <a:r>
                        <a:rPr sz="1700" b="1" i="0">
                          <a:solidFill>
                            <a:srgbClr val="000000"/>
                          </a:solidFill>
                          <a:latin typeface="Times New Roman"/>
                        </a:rPr>
                        <a:t>PO10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sz="1700" b="0" i="0">
                          <a:solidFill>
                            <a:srgbClr val="000000"/>
                          </a:solidFill>
                          <a:highlight>
                            <a:srgbClr val="FFFF00"/>
                          </a:highlight>
                          <a:latin typeface="Times New Roman"/>
                        </a:rPr>
                        <a:t>Developed technical communication skills through report writing and presentations of the project outcomes.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700" b="0" i="0" dirty="0">
                          <a:solidFill>
                            <a:srgbClr val="000000"/>
                          </a:solidFill>
                          <a:highlight>
                            <a:srgbClr val="FFFF00"/>
                          </a:highlight>
                          <a:latin typeface="Times New Roman"/>
                        </a:rPr>
                        <a:t>2 – Medium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85800">
                <a:tc>
                  <a:txBody>
                    <a:bodyPr/>
                    <a:lstStyle/>
                    <a:p>
                      <a:r>
                        <a:rPr sz="1700" b="1" i="0">
                          <a:solidFill>
                            <a:srgbClr val="000000"/>
                          </a:solidFill>
                          <a:latin typeface="Times New Roman"/>
                        </a:rPr>
                        <a:t>PO11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sz="1700" b="0" i="0" dirty="0">
                          <a:solidFill>
                            <a:srgbClr val="000000"/>
                          </a:solidFill>
                          <a:highlight>
                            <a:srgbClr val="FFFF00"/>
                          </a:highlight>
                          <a:latin typeface="Times New Roman"/>
                        </a:rPr>
                        <a:t>Gained awareness of basic budgeting and resource planning for experimental antenna fabrication.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700" b="0" i="0" dirty="0">
                          <a:solidFill>
                            <a:srgbClr val="000000"/>
                          </a:solidFill>
                          <a:highlight>
                            <a:srgbClr val="FFFF00"/>
                          </a:highlight>
                          <a:latin typeface="Times New Roman"/>
                        </a:rPr>
                        <a:t>1 – Low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685800">
                <a:tc>
                  <a:txBody>
                    <a:bodyPr/>
                    <a:lstStyle/>
                    <a:p>
                      <a:r>
                        <a:rPr sz="1700" b="1" i="0">
                          <a:solidFill>
                            <a:srgbClr val="000000"/>
                          </a:solidFill>
                          <a:latin typeface="Times New Roman"/>
                        </a:rPr>
                        <a:t>PO12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sz="1700" b="0" i="0" dirty="0">
                          <a:solidFill>
                            <a:srgbClr val="000000"/>
                          </a:solidFill>
                          <a:highlight>
                            <a:srgbClr val="FFFF00"/>
                          </a:highlight>
                          <a:latin typeface="Times New Roman"/>
                        </a:rPr>
                        <a:t>Engaged in self-learning to understand graphene materials and their application in RF devices.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700" b="0" i="0" dirty="0">
                          <a:solidFill>
                            <a:srgbClr val="000000"/>
                          </a:solidFill>
                          <a:highlight>
                            <a:srgbClr val="FFFF00"/>
                          </a:highlight>
                          <a:latin typeface="Times New Roman"/>
                        </a:rPr>
                        <a:t>2 – Medium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57EF31C9-36CB-83F0-4C9B-241A0AAC8A11}"/>
              </a:ext>
            </a:extLst>
          </p:cNvPr>
          <p:cNvSpPr txBox="1"/>
          <p:nvPr/>
        </p:nvSpPr>
        <p:spPr>
          <a:xfrm>
            <a:off x="158496" y="6488668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800" b="1" i="0" dirty="0">
                <a:solidFill>
                  <a:srgbClr val="000000"/>
                </a:solidFill>
                <a:latin typeface="Times New Roman"/>
              </a:rPr>
              <a:t>-</a:t>
            </a:r>
            <a:r>
              <a:rPr lang="en-IN" sz="1800" b="1" i="0" dirty="0">
                <a:solidFill>
                  <a:srgbClr val="FF0000"/>
                </a:solidFill>
                <a:latin typeface="Times New Roman"/>
              </a:rPr>
              <a:t>write as per your project</a:t>
            </a:r>
            <a:endParaRPr lang="en-IN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548640" y="274320"/>
            <a:ext cx="1106424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3600" b="1" i="0">
                <a:solidFill>
                  <a:srgbClr val="000000"/>
                </a:solidFill>
                <a:latin typeface="Times New Roman"/>
              </a:rPr>
              <a:t>PSOs Learnt</a:t>
            </a:r>
          </a:p>
        </p:txBody>
      </p:sp>
      <p:sp>
        <p:nvSpPr>
          <p:cNvPr id="3" name="Slide number"/>
          <p:cNvSpPr txBox="1"/>
          <p:nvPr/>
        </p:nvSpPr>
        <p:spPr>
          <a:xfrm>
            <a:off x="11155680" y="6400800"/>
            <a:ext cx="731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600"/>
              </a:spcAft>
            </a:pPr>
            <a:r>
              <a:rPr sz="1200" b="0" i="0">
                <a:solidFill>
                  <a:srgbClr val="000000"/>
                </a:solidFill>
                <a:latin typeface="Times New Roman"/>
              </a:rPr>
              <a:t>5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11012753"/>
              </p:ext>
            </p:extLst>
          </p:nvPr>
        </p:nvGraphicFramePr>
        <p:xfrm>
          <a:off x="548640" y="1280160"/>
          <a:ext cx="11064240" cy="402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972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229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373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005840">
                <a:tc>
                  <a:txBody>
                    <a:bodyPr/>
                    <a:lstStyle/>
                    <a:p>
                      <a:r>
                        <a:rPr sz="1800" b="1" i="0">
                          <a:solidFill>
                            <a:srgbClr val="FFFFFF"/>
                          </a:solidFill>
                          <a:latin typeface="Times New Roman"/>
                        </a:rPr>
                        <a:t>PO No.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sz="1800" b="1" i="0">
                          <a:solidFill>
                            <a:srgbClr val="FFFFFF"/>
                          </a:solidFill>
                          <a:latin typeface="Times New Roman"/>
                        </a:rPr>
                        <a:t>What I learnt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1" i="0">
                          <a:solidFill>
                            <a:srgbClr val="FFFFFF"/>
                          </a:solidFill>
                          <a:latin typeface="Times New Roman"/>
                        </a:rPr>
                        <a:t>Mapping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005840">
                <a:tc>
                  <a:txBody>
                    <a:bodyPr/>
                    <a:lstStyle/>
                    <a:p>
                      <a:r>
                        <a:rPr sz="1700" b="1" i="0">
                          <a:solidFill>
                            <a:srgbClr val="000000"/>
                          </a:solidFill>
                          <a:latin typeface="Times New Roman"/>
                        </a:rPr>
                        <a:t>PSO1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sz="1700" b="0" i="0" dirty="0">
                          <a:solidFill>
                            <a:srgbClr val="000000"/>
                          </a:solidFill>
                          <a:highlight>
                            <a:srgbClr val="FFFF00"/>
                          </a:highlight>
                          <a:latin typeface="Times New Roman"/>
                        </a:rPr>
                        <a:t>Applied core knowledge of RF and communication engineering in the development of the antenna system.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700" b="0" i="0" dirty="0">
                          <a:solidFill>
                            <a:srgbClr val="000000"/>
                          </a:solidFill>
                          <a:highlight>
                            <a:srgbClr val="FFFF00"/>
                          </a:highlight>
                          <a:latin typeface="Times New Roman"/>
                        </a:rPr>
                        <a:t>3 – High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005840">
                <a:tc>
                  <a:txBody>
                    <a:bodyPr/>
                    <a:lstStyle/>
                    <a:p>
                      <a:r>
                        <a:rPr sz="1700" b="1" i="0">
                          <a:solidFill>
                            <a:srgbClr val="000000"/>
                          </a:solidFill>
                          <a:latin typeface="Times New Roman"/>
                        </a:rPr>
                        <a:t>PSO2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sz="1700" b="0" i="0" dirty="0">
                          <a:solidFill>
                            <a:srgbClr val="000000"/>
                          </a:solidFill>
                          <a:highlight>
                            <a:srgbClr val="FFFF00"/>
                          </a:highlight>
                          <a:latin typeface="Times New Roman"/>
                        </a:rPr>
                        <a:t>Designed an innovative graphene-based antenna and implemented simulation techniques for performance analysis.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700" b="0" i="0" dirty="0">
                          <a:solidFill>
                            <a:srgbClr val="000000"/>
                          </a:solidFill>
                          <a:highlight>
                            <a:srgbClr val="FFFF00"/>
                          </a:highlight>
                          <a:latin typeface="Times New Roman"/>
                        </a:rPr>
                        <a:t>3 – High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005840">
                <a:tc>
                  <a:txBody>
                    <a:bodyPr/>
                    <a:lstStyle/>
                    <a:p>
                      <a:r>
                        <a:rPr sz="1700" b="1" i="0">
                          <a:solidFill>
                            <a:srgbClr val="000000"/>
                          </a:solidFill>
                          <a:latin typeface="Times New Roman"/>
                        </a:rPr>
                        <a:t>PSO3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sz="1700" b="0" i="0" dirty="0">
                          <a:solidFill>
                            <a:srgbClr val="000000"/>
                          </a:solidFill>
                          <a:highlight>
                            <a:srgbClr val="FFFF00"/>
                          </a:highlight>
                          <a:latin typeface="Times New Roman"/>
                        </a:rPr>
                        <a:t>Gained hands-on experience with simulation tools and embedded coding for system-level integration, where applicable.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700" b="0" i="0" dirty="0">
                          <a:solidFill>
                            <a:srgbClr val="000000"/>
                          </a:solidFill>
                          <a:highlight>
                            <a:srgbClr val="FFFF00"/>
                          </a:highlight>
                          <a:latin typeface="Times New Roman"/>
                        </a:rPr>
                        <a:t>2 – Medium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C6CA642D-6B20-9130-7B6B-4B32AD980CD1}"/>
              </a:ext>
            </a:extLst>
          </p:cNvPr>
          <p:cNvSpPr txBox="1"/>
          <p:nvPr/>
        </p:nvSpPr>
        <p:spPr>
          <a:xfrm>
            <a:off x="158496" y="6304002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800" b="1" i="0" dirty="0">
                <a:solidFill>
                  <a:srgbClr val="000000"/>
                </a:solidFill>
                <a:latin typeface="Times New Roman"/>
              </a:rPr>
              <a:t>-</a:t>
            </a:r>
            <a:r>
              <a:rPr lang="en-IN" sz="1800" b="1" i="0" dirty="0">
                <a:solidFill>
                  <a:srgbClr val="FF0000"/>
                </a:solidFill>
                <a:latin typeface="Times New Roman"/>
              </a:rPr>
              <a:t>write as per your project  for your department PSOs</a:t>
            </a:r>
            <a:endParaRPr lang="en-IN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548640" y="316914"/>
            <a:ext cx="11064240" cy="646331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3600" b="1" i="0" dirty="0">
                <a:solidFill>
                  <a:srgbClr val="000000"/>
                </a:solidFill>
                <a:latin typeface="Times New Roman"/>
              </a:rPr>
              <a:t>Sustainable Development Goals (SDGs)</a:t>
            </a:r>
            <a:endParaRPr sz="3600" b="1" i="0" dirty="0">
              <a:solidFill>
                <a:srgbClr val="FF0000"/>
              </a:solidFill>
              <a:latin typeface="Times New Roman"/>
            </a:endParaRPr>
          </a:p>
        </p:txBody>
      </p:sp>
      <p:sp>
        <p:nvSpPr>
          <p:cNvPr id="3" name="Slide number"/>
          <p:cNvSpPr txBox="1"/>
          <p:nvPr/>
        </p:nvSpPr>
        <p:spPr>
          <a:xfrm>
            <a:off x="11155680" y="6400800"/>
            <a:ext cx="731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600"/>
              </a:spcAft>
            </a:pPr>
            <a:r>
              <a:rPr sz="1200" b="0" i="0">
                <a:solidFill>
                  <a:srgbClr val="000000"/>
                </a:solidFill>
                <a:latin typeface="Times New Roman"/>
              </a:rPr>
              <a:t>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97280"/>
            <a:ext cx="1106424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 i="1" dirty="0">
                <a:solidFill>
                  <a:srgbClr val="767676"/>
                </a:solidFill>
                <a:latin typeface="Times New Roman"/>
              </a:rPr>
              <a:t>This project aligns with the United Nations Sustainable Development Goals: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691640"/>
            <a:ext cx="5394960" cy="2103120"/>
          </a:xfrm>
          <a:prstGeom prst="roundRect">
            <a:avLst>
              <a:gd name="adj" fmla="val 6000"/>
            </a:avLst>
          </a:prstGeom>
          <a:solidFill>
            <a:srgbClr val="F2F5FA"/>
          </a:solidFill>
          <a:ln>
            <a:solidFill>
              <a:srgbClr val="D0DBEA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777240" y="1920240"/>
            <a:ext cx="1097280" cy="1097280"/>
          </a:xfrm>
          <a:prstGeom prst="roundRect">
            <a:avLst>
              <a:gd name="adj" fmla="val 10000"/>
            </a:avLst>
          </a:prstGeom>
          <a:solidFill>
            <a:srgbClr val="FCC30B"/>
          </a:solidFill>
          <a:ln>
            <a:noFill/>
          </a:ln>
        </p:spPr>
        <p:txBody>
          <a:bodyPr rtlCol="0" anchor="ctr"/>
          <a:lstStyle/>
          <a:p>
            <a:pPr algn="ctr"/>
            <a:r>
              <a:rPr sz="1400" b="1" i="0">
                <a:solidFill>
                  <a:srgbClr val="000000"/>
                </a:solidFill>
                <a:latin typeface="Times New Roman"/>
              </a:rPr>
              <a:t>SDG</a:t>
            </a:r>
          </a:p>
          <a:p>
            <a:pPr algn="ctr"/>
            <a:r>
              <a:rPr sz="3000" b="1" i="0">
                <a:solidFill>
                  <a:srgbClr val="000000"/>
                </a:solidFill>
                <a:latin typeface="Times New Roman"/>
              </a:rPr>
              <a:t>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057400" y="1874520"/>
            <a:ext cx="3749039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1900" b="1" i="0">
                <a:solidFill>
                  <a:srgbClr val="1F497D"/>
                </a:solidFill>
                <a:latin typeface="Times New Roman"/>
              </a:rPr>
              <a:t>Affordable and Clean Energy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057400" y="2606040"/>
            <a:ext cx="3749039" cy="1143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 i="0">
                <a:solidFill>
                  <a:srgbClr val="000000"/>
                </a:solidFill>
                <a:latin typeface="Times New Roman"/>
              </a:rPr>
              <a:t>Harvests ambient RF energy, contributing to clean, renewable and decentralized power sources for low-power electronics.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691640"/>
            <a:ext cx="5394960" cy="2103120"/>
          </a:xfrm>
          <a:prstGeom prst="roundRect">
            <a:avLst>
              <a:gd name="adj" fmla="val 6000"/>
            </a:avLst>
          </a:prstGeom>
          <a:solidFill>
            <a:srgbClr val="F2F5FA"/>
          </a:solidFill>
          <a:ln>
            <a:solidFill>
              <a:srgbClr val="D0DBEA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6446520" y="1920240"/>
            <a:ext cx="1097280" cy="1097280"/>
          </a:xfrm>
          <a:prstGeom prst="roundRect">
            <a:avLst>
              <a:gd name="adj" fmla="val 10000"/>
            </a:avLst>
          </a:prstGeom>
          <a:solidFill>
            <a:srgbClr val="FD6925"/>
          </a:solidFill>
          <a:ln>
            <a:noFill/>
          </a:ln>
        </p:spPr>
        <p:txBody>
          <a:bodyPr rtlCol="0" anchor="ctr"/>
          <a:lstStyle/>
          <a:p>
            <a:pPr algn="ctr"/>
            <a:r>
              <a:rPr sz="1400" b="1" i="0" dirty="0">
                <a:solidFill>
                  <a:srgbClr val="FFFFFF"/>
                </a:solidFill>
                <a:latin typeface="Times New Roman"/>
              </a:rPr>
              <a:t>SDG</a:t>
            </a:r>
          </a:p>
          <a:p>
            <a:pPr algn="ctr"/>
            <a:r>
              <a:rPr sz="3000" b="1" i="0" dirty="0">
                <a:solidFill>
                  <a:srgbClr val="FFFFFF"/>
                </a:solidFill>
                <a:latin typeface="Times New Roman"/>
              </a:rPr>
              <a:t>9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26679" y="1874520"/>
            <a:ext cx="3749039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1900" b="1" i="0">
                <a:solidFill>
                  <a:srgbClr val="1F497D"/>
                </a:solidFill>
                <a:latin typeface="Times New Roman"/>
              </a:rPr>
              <a:t>Industry, Innovation and Infrastructure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26679" y="2606040"/>
            <a:ext cx="3749039" cy="1143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 i="0">
                <a:solidFill>
                  <a:srgbClr val="000000"/>
                </a:solidFill>
                <a:latin typeface="Times New Roman"/>
              </a:rPr>
              <a:t>Graphene and innovative antenna design enhance wireless communication infrastructure and promote research in sustainable electronics.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8640" y="4023360"/>
            <a:ext cx="5394960" cy="2103120"/>
          </a:xfrm>
          <a:prstGeom prst="roundRect">
            <a:avLst>
              <a:gd name="adj" fmla="val 6000"/>
            </a:avLst>
          </a:prstGeom>
          <a:solidFill>
            <a:srgbClr val="F2F5FA"/>
          </a:solidFill>
          <a:ln>
            <a:solidFill>
              <a:srgbClr val="D0DBEA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777240" y="4251960"/>
            <a:ext cx="1097280" cy="1097280"/>
          </a:xfrm>
          <a:prstGeom prst="roundRect">
            <a:avLst>
              <a:gd name="adj" fmla="val 10000"/>
            </a:avLst>
          </a:prstGeom>
          <a:solidFill>
            <a:srgbClr val="BF8B2E"/>
          </a:solidFill>
          <a:ln>
            <a:noFill/>
          </a:ln>
        </p:spPr>
        <p:txBody>
          <a:bodyPr rtlCol="0" anchor="ctr"/>
          <a:lstStyle/>
          <a:p>
            <a:pPr algn="ctr"/>
            <a:r>
              <a:rPr sz="1400" b="1" i="0">
                <a:solidFill>
                  <a:srgbClr val="FFFFFF"/>
                </a:solidFill>
                <a:latin typeface="Times New Roman"/>
              </a:rPr>
              <a:t>SDG</a:t>
            </a:r>
          </a:p>
          <a:p>
            <a:pPr algn="ctr"/>
            <a:r>
              <a:rPr sz="3000" b="1" i="0">
                <a:solidFill>
                  <a:srgbClr val="FFFFFF"/>
                </a:solidFill>
                <a:latin typeface="Times New Roman"/>
              </a:rPr>
              <a:t>12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057400" y="4206240"/>
            <a:ext cx="3749039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1900" b="1" i="0" dirty="0">
                <a:solidFill>
                  <a:srgbClr val="1F497D"/>
                </a:solidFill>
                <a:latin typeface="Times New Roman"/>
              </a:rPr>
              <a:t>Responsible Consumption and Production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057400" y="4937760"/>
            <a:ext cx="3749039" cy="1143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 i="0">
                <a:solidFill>
                  <a:srgbClr val="000000"/>
                </a:solidFill>
                <a:latin typeface="Times New Roman"/>
              </a:rPr>
              <a:t>Using RF energy from the environment supports energy efficiency and sustainable use of advanced materials in communication systems.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17920" y="4023360"/>
            <a:ext cx="5394960" cy="2103120"/>
          </a:xfrm>
          <a:prstGeom prst="roundRect">
            <a:avLst>
              <a:gd name="adj" fmla="val 6000"/>
            </a:avLst>
          </a:prstGeom>
          <a:solidFill>
            <a:srgbClr val="F2F5FA"/>
          </a:solidFill>
          <a:ln>
            <a:solidFill>
              <a:srgbClr val="D0DBEA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ounded Rectangle 17"/>
          <p:cNvSpPr/>
          <p:nvPr/>
        </p:nvSpPr>
        <p:spPr>
          <a:xfrm>
            <a:off x="6446520" y="4251960"/>
            <a:ext cx="1097280" cy="1097280"/>
          </a:xfrm>
          <a:prstGeom prst="roundRect">
            <a:avLst>
              <a:gd name="adj" fmla="val 10000"/>
            </a:avLst>
          </a:prstGeom>
          <a:solidFill>
            <a:srgbClr val="3F7E44"/>
          </a:solidFill>
          <a:ln>
            <a:noFill/>
          </a:ln>
        </p:spPr>
        <p:txBody>
          <a:bodyPr rtlCol="0" anchor="ctr"/>
          <a:lstStyle/>
          <a:p>
            <a:pPr algn="ctr"/>
            <a:r>
              <a:rPr sz="1400" b="1" i="0">
                <a:solidFill>
                  <a:srgbClr val="FFFFFF"/>
                </a:solidFill>
                <a:latin typeface="Times New Roman"/>
              </a:rPr>
              <a:t>SDG</a:t>
            </a:r>
          </a:p>
          <a:p>
            <a:pPr algn="ctr"/>
            <a:r>
              <a:rPr sz="3000" b="1" i="0">
                <a:solidFill>
                  <a:srgbClr val="FFFFFF"/>
                </a:solidFill>
                <a:latin typeface="Times New Roman"/>
              </a:rPr>
              <a:t>13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26679" y="4206240"/>
            <a:ext cx="3749039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1900" b="1" i="0">
                <a:solidFill>
                  <a:srgbClr val="1F497D"/>
                </a:solidFill>
                <a:latin typeface="Times New Roman"/>
              </a:rPr>
              <a:t>Climate Action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726679" y="4937760"/>
            <a:ext cx="3749039" cy="1143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 i="0">
                <a:solidFill>
                  <a:srgbClr val="000000"/>
                </a:solidFill>
                <a:latin typeface="Times New Roman"/>
              </a:rPr>
              <a:t>Reduces dependency on batteries by enabling ambient energy reuse, minimizing environmental impact and carbon footprint.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C3E3355E-5CD0-5982-0DD8-1102356EF02A}"/>
              </a:ext>
            </a:extLst>
          </p:cNvPr>
          <p:cNvSpPr txBox="1"/>
          <p:nvPr/>
        </p:nvSpPr>
        <p:spPr>
          <a:xfrm>
            <a:off x="548640" y="6356420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800" b="1" dirty="0">
                <a:solidFill>
                  <a:srgbClr val="FF0000"/>
                </a:solidFill>
                <a:latin typeface="Times New Roman"/>
              </a:rPr>
              <a:t>Mention suitable  SDGs for your project </a:t>
            </a:r>
            <a:endParaRPr lang="en-IN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63430897-B810-6CF0-3222-A4A1A4A7E949}"/>
              </a:ext>
            </a:extLst>
          </p:cNvPr>
          <p:cNvSpPr txBox="1"/>
          <p:nvPr/>
        </p:nvSpPr>
        <p:spPr>
          <a:xfrm>
            <a:off x="1365504" y="1945505"/>
            <a:ext cx="8680704" cy="31085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en-IN" sz="2800" b="1" dirty="0">
              <a:solidFill>
                <a:srgbClr val="000000"/>
              </a:solidFill>
              <a:latin typeface="Times New Roman"/>
            </a:endParaRPr>
          </a:p>
          <a:p>
            <a:pPr marL="342900" indent="-342900">
              <a:buAutoNum type="arabicPeriod"/>
            </a:pPr>
            <a:r>
              <a:rPr lang="en-IN" sz="2800" b="1" dirty="0">
                <a:solidFill>
                  <a:srgbClr val="000000"/>
                </a:solidFill>
                <a:latin typeface="Times New Roman"/>
              </a:rPr>
              <a:t> Patent status                            :</a:t>
            </a:r>
          </a:p>
          <a:p>
            <a:pPr marL="342900" indent="-342900">
              <a:buAutoNum type="arabicPeriod"/>
            </a:pPr>
            <a:r>
              <a:rPr lang="en-IN" sz="2800" b="1" dirty="0">
                <a:solidFill>
                  <a:srgbClr val="000000"/>
                </a:solidFill>
                <a:latin typeface="Times New Roman"/>
              </a:rPr>
              <a:t> Scopus-indexed Conf Status :</a:t>
            </a:r>
          </a:p>
          <a:p>
            <a:r>
              <a:rPr lang="en-IN" sz="2800" b="1" dirty="0">
                <a:solidFill>
                  <a:srgbClr val="000000"/>
                </a:solidFill>
                <a:latin typeface="Times New Roman"/>
              </a:rPr>
              <a:t>      Name of the Conference </a:t>
            </a:r>
          </a:p>
          <a:p>
            <a:r>
              <a:rPr lang="en-IN" sz="2800" b="1" dirty="0">
                <a:solidFill>
                  <a:srgbClr val="000000"/>
                </a:solidFill>
                <a:latin typeface="Times New Roman"/>
              </a:rPr>
              <a:t>3.  Scopus /SCI Journal  status  :</a:t>
            </a:r>
          </a:p>
          <a:p>
            <a:r>
              <a:rPr lang="en-IN" sz="2800" b="1" dirty="0">
                <a:solidFill>
                  <a:srgbClr val="000000"/>
                </a:solidFill>
                <a:latin typeface="Times New Roman"/>
              </a:rPr>
              <a:t>     Name of the Journal</a:t>
            </a:r>
          </a:p>
          <a:p>
            <a:r>
              <a:rPr lang="en-IN" sz="2800" b="1" dirty="0">
                <a:solidFill>
                  <a:srgbClr val="000000"/>
                </a:solidFill>
                <a:latin typeface="Times New Roman"/>
              </a:rPr>
              <a:t>4.  Manuscript Status                  :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381C577-85C4-56DD-9544-D3C098AC3863}"/>
              </a:ext>
            </a:extLst>
          </p:cNvPr>
          <p:cNvSpPr txBox="1"/>
          <p:nvPr/>
        </p:nvSpPr>
        <p:spPr>
          <a:xfrm>
            <a:off x="243840" y="370070"/>
            <a:ext cx="609600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4000" b="1" dirty="0">
                <a:solidFill>
                  <a:srgbClr val="FF0000"/>
                </a:solidFill>
                <a:latin typeface="Times New Roman"/>
              </a:rPr>
              <a:t>Project outcome :</a:t>
            </a:r>
          </a:p>
        </p:txBody>
      </p:sp>
    </p:spTree>
    <p:extLst>
      <p:ext uri="{BB962C8B-B14F-4D97-AF65-F5344CB8AC3E}">
        <p14:creationId xmlns:p14="http://schemas.microsoft.com/office/powerpoint/2010/main" val="184312581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20040"/>
            <a:ext cx="1106424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lang="en-IN" sz="4000" b="1" dirty="0">
                <a:solidFill>
                  <a:srgbClr val="000000"/>
                </a:solidFill>
                <a:latin typeface="Times New Roman"/>
              </a:rPr>
              <a:t>Conclusion</a:t>
            </a:r>
            <a:endParaRPr sz="4000" b="1" dirty="0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1338560" y="6400800"/>
            <a:ext cx="5486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spcAft>
                <a:spcPts val="600"/>
              </a:spcAft>
            </a:pPr>
            <a:r>
              <a:rPr sz="1200" b="0">
                <a:solidFill>
                  <a:srgbClr val="000000"/>
                </a:solidFill>
                <a:latin typeface="Times New Roman"/>
              </a:rPr>
              <a:t>21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7278EEC-0DB4-5458-36A9-537800B52FF4}"/>
              </a:ext>
            </a:extLst>
          </p:cNvPr>
          <p:cNvSpPr txBox="1"/>
          <p:nvPr/>
        </p:nvSpPr>
        <p:spPr>
          <a:xfrm>
            <a:off x="1621536" y="1044666"/>
            <a:ext cx="8132064" cy="36625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800" b="1" dirty="0">
                <a:solidFill>
                  <a:srgbClr val="FF0000"/>
                </a:solidFill>
                <a:latin typeface="Times New Roman"/>
              </a:rPr>
              <a:t> </a:t>
            </a:r>
          </a:p>
          <a:p>
            <a:endParaRPr lang="en-IN" sz="2800" b="1" dirty="0">
              <a:solidFill>
                <a:srgbClr val="000000"/>
              </a:solidFill>
              <a:latin typeface="Times New Roman"/>
            </a:endParaRPr>
          </a:p>
          <a:p>
            <a:r>
              <a:rPr lang="en-IN" sz="2800" b="1" dirty="0">
                <a:solidFill>
                  <a:srgbClr val="000000"/>
                </a:solidFill>
                <a:latin typeface="Times New Roman"/>
              </a:rPr>
              <a:t>% of  project completion    :</a:t>
            </a:r>
          </a:p>
          <a:p>
            <a:endParaRPr lang="en-IN" sz="2800" b="1" dirty="0">
              <a:solidFill>
                <a:srgbClr val="000000"/>
              </a:solidFill>
              <a:latin typeface="Times New Roman"/>
            </a:endParaRPr>
          </a:p>
          <a:p>
            <a:r>
              <a:rPr lang="en-IN" sz="2800" b="1" dirty="0">
                <a:solidFill>
                  <a:srgbClr val="000000"/>
                </a:solidFill>
                <a:latin typeface="Times New Roman"/>
              </a:rPr>
              <a:t>List of completed work:</a:t>
            </a:r>
          </a:p>
          <a:p>
            <a:endParaRPr lang="en-IN" sz="2800" b="1" dirty="0">
              <a:solidFill>
                <a:srgbClr val="000000"/>
              </a:solidFill>
              <a:latin typeface="Times New Roman"/>
            </a:endParaRPr>
          </a:p>
          <a:p>
            <a:r>
              <a:rPr lang="en-IN" sz="2800" b="1" dirty="0">
                <a:solidFill>
                  <a:srgbClr val="000000"/>
                </a:solidFill>
                <a:latin typeface="Times New Roman"/>
              </a:rPr>
              <a:t>List of Pending Work        :</a:t>
            </a:r>
          </a:p>
          <a:p>
            <a:endParaRPr lang="en-IN" b="1" dirty="0">
              <a:solidFill>
                <a:srgbClr val="000000"/>
              </a:solidFill>
              <a:latin typeface="Times New Roman"/>
            </a:endParaRPr>
          </a:p>
          <a:p>
            <a:endParaRPr lang="en-IN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20040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 dirty="0">
                <a:solidFill>
                  <a:srgbClr val="000000"/>
                </a:solidFill>
                <a:latin typeface="Times New Roman"/>
              </a:rPr>
              <a:t>References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338560" y="6400800"/>
            <a:ext cx="5486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spcAft>
                <a:spcPts val="600"/>
              </a:spcAft>
            </a:pPr>
            <a:r>
              <a:rPr sz="1200" b="0">
                <a:solidFill>
                  <a:srgbClr val="000000"/>
                </a:solidFill>
                <a:latin typeface="Times New Roman"/>
              </a:rPr>
              <a:t>29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30726A0-AE82-3DC3-2F36-F0D9223B8FAE}"/>
              </a:ext>
            </a:extLst>
          </p:cNvPr>
          <p:cNvSpPr txBox="1"/>
          <p:nvPr/>
        </p:nvSpPr>
        <p:spPr>
          <a:xfrm>
            <a:off x="1463040" y="5354201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b="1" dirty="0">
                <a:solidFill>
                  <a:srgbClr val="FF0000"/>
                </a:solidFill>
                <a:latin typeface="Times New Roman"/>
              </a:rPr>
              <a:t>Use Chicago format 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132</TotalTime>
  <Words>702</Words>
  <Application>Microsoft Office PowerPoint</Application>
  <PresentationFormat>Widescreen</PresentationFormat>
  <Paragraphs>188</Paragraphs>
  <Slides>19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9" baseType="lpstr">
      <vt:lpstr>Microsoft JhengHei UI</vt:lpstr>
      <vt:lpstr>Arial</vt:lpstr>
      <vt:lpstr>Arial Black</vt:lpstr>
      <vt:lpstr>Arial Rounded MT Bold</vt:lpstr>
      <vt:lpstr>Calibri</vt:lpstr>
      <vt:lpstr>Gill Sans MT</vt:lpstr>
      <vt:lpstr>Sitka Heading</vt:lpstr>
      <vt:lpstr>Times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>Elizabeth Caroline</dc:creator>
  <cp:keywords/>
  <dc:description>generated using python-pptx</dc:description>
  <cp:lastModifiedBy>Elizabeth Caroline</cp:lastModifiedBy>
  <cp:revision>18</cp:revision>
  <dcterms:created xsi:type="dcterms:W3CDTF">2013-01-27T09:14:16Z</dcterms:created>
  <dcterms:modified xsi:type="dcterms:W3CDTF">2026-10-13T07:28:37Z</dcterms:modified>
  <cp:category/>
</cp:coreProperties>
</file>